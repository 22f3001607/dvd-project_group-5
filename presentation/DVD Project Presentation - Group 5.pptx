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BE9624-13C5-40F2-B35E-B41654A5108F}">
  <a:tblStyle styleId="{E6BE9624-13C5-40F2-B35E-B41654A510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409cca9a9fb_5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409cca9a9fb_5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409cca9a9fb_5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409cca9a9fb_5_2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409cca9a9fb_5_2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g409cca9a9fb_5_2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409cca9a9fb_5_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409cca9a9fb_5_5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409cca9a9fb_5_5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409cca9a9fb_5_7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409cca9a9fb_5_7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409cca9a9fb_5_7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409cca9a9fb_5_9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409cca9a9fb_5_9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409cca9a9fb_5_9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409cca9a9fb_3_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409cca9a9fb_3_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409cca9a9fb_3_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409cca9a9fb_3_4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409cca9a9fb_3_4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409cca9a9fb_3_4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09cca9a9fb_3_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409cca9a9fb_3_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409cca9a9fb_3_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09cca9a9fb_3_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409cca9a9fb_3_6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409cca9a9fb_3_6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09cca9a9fb_3_7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409cca9a9fb_3_7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409cca9a9fb_3_7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09cca9a9fb_3_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409cca9a9fb_3_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409cca9a9fb_3_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409cca9a9fb_5_2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409cca9a9fb_5_2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409cca9a9fb_5_2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409cca9a9fb_5_2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409cca9a9fb_5_2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409cca9a9fb_5_2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09cca9a9fb_3_1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409cca9a9fb_3_1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409cca9a9fb_3_1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409cca9a9fb_5_31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409cca9a9fb_5_31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409cca9a9fb_5_31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409cca9a9fb_5_3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409cca9a9fb_5_3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409cca9a9fb_5_3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4A"/>
        </a:solidFill>
      </p:bgPr>
    </p:bg>
    <p:spTree>
      <p:nvGrpSpPr>
        <p:cNvPr id="56" name="Shape 56"/>
        <p:cNvGrpSpPr/>
        <p:nvPr/>
      </p:nvGrpSpPr>
      <p:grpSpPr>
        <a:xfrm>
          <a:off x="0" y="0"/>
          <a:ext cx="0" cy="0"/>
          <a:chOff x="0" y="0"/>
          <a:chExt cx="0" cy="0"/>
        </a:xfrm>
      </p:grpSpPr>
      <p:sp>
        <p:nvSpPr>
          <p:cNvPr id="57" name="Google Shape;57;p15"/>
          <p:cNvSpPr txBox="1"/>
          <p:nvPr/>
        </p:nvSpPr>
        <p:spPr>
          <a:xfrm>
            <a:off x="548640" y="633116"/>
            <a:ext cx="8023800" cy="130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A Visual Study of E-Commerce Orders,</a:t>
            </a:r>
            <a:endParaRPr b="0" i="0" sz="2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Delivery &amp; Customer Satisfaction</a:t>
            </a:r>
            <a:endParaRPr b="0" i="0" sz="2400" u="none" cap="none" strike="noStrike">
              <a:solidFill>
                <a:schemeClr val="dk1"/>
              </a:solidFill>
              <a:latin typeface="Calibri"/>
              <a:ea typeface="Calibri"/>
              <a:cs typeface="Calibri"/>
              <a:sym typeface="Calibri"/>
            </a:endParaRPr>
          </a:p>
        </p:txBody>
      </p:sp>
      <p:sp>
        <p:nvSpPr>
          <p:cNvPr id="58" name="Google Shape;58;p15"/>
          <p:cNvSpPr txBox="1"/>
          <p:nvPr/>
        </p:nvSpPr>
        <p:spPr>
          <a:xfrm>
            <a:off x="3098548" y="2253785"/>
            <a:ext cx="29469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100"/>
              <a:buFont typeface="Calibri"/>
              <a:buNone/>
            </a:pPr>
            <a:r>
              <a:rPr lang="en" sz="1800">
                <a:solidFill>
                  <a:schemeClr val="lt1"/>
                </a:solidFill>
                <a:latin typeface="Calibri"/>
                <a:ea typeface="Calibri"/>
                <a:cs typeface="Calibri"/>
                <a:sym typeface="Calibri"/>
              </a:rPr>
              <a:t>Group 5</a:t>
            </a:r>
            <a:endParaRPr b="0" i="0" sz="1800" u="none" cap="none" strike="noStrike">
              <a:solidFill>
                <a:schemeClr val="lt1"/>
              </a:solidFill>
              <a:latin typeface="Calibri"/>
              <a:ea typeface="Calibri"/>
              <a:cs typeface="Calibri"/>
              <a:sym typeface="Calibri"/>
            </a:endParaRPr>
          </a:p>
        </p:txBody>
      </p:sp>
      <p:graphicFrame>
        <p:nvGraphicFramePr>
          <p:cNvPr id="59" name="Google Shape;59;p15"/>
          <p:cNvGraphicFramePr/>
          <p:nvPr/>
        </p:nvGraphicFramePr>
        <p:xfrm>
          <a:off x="952500" y="2704000"/>
          <a:ext cx="3000000" cy="3000000"/>
        </p:xfrm>
        <a:graphic>
          <a:graphicData uri="http://schemas.openxmlformats.org/drawingml/2006/table">
            <a:tbl>
              <a:tblPr>
                <a:noFill/>
                <a:tableStyleId>{E6BE9624-13C5-40F2-B35E-B41654A5108F}</a:tableStyleId>
              </a:tblPr>
              <a:tblGrid>
                <a:gridCol w="3619500"/>
                <a:gridCol w="3619500"/>
              </a:tblGrid>
              <a:tr h="381000">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Smit Pareshbhai Sabalpara</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22F3001607</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Harsh Patel</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22F1001058</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Naman Goel</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22F2001226</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Sunny Kumar Gupta</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23F1002609</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Renee Keerthana Paturi</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Calibri"/>
                          <a:ea typeface="Calibri"/>
                          <a:cs typeface="Calibri"/>
                          <a:sym typeface="Calibri"/>
                        </a:rPr>
                        <a:t>22F2001379</a:t>
                      </a:r>
                      <a:endParaRPr>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60" name="Google Shape;60;p15"/>
          <p:cNvSpPr txBox="1"/>
          <p:nvPr/>
        </p:nvSpPr>
        <p:spPr>
          <a:xfrm>
            <a:off x="548640" y="1689899"/>
            <a:ext cx="80238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200"/>
              <a:buFont typeface="Calibri"/>
              <a:buNone/>
            </a:pPr>
            <a:r>
              <a:rPr b="0" i="0" lang="en" sz="1200" u="none" cap="none" strike="noStrike">
                <a:solidFill>
                  <a:srgbClr val="CADCFC"/>
                </a:solidFill>
                <a:latin typeface="Calibri"/>
                <a:ea typeface="Calibri"/>
                <a:cs typeface="Calibri"/>
                <a:sym typeface="Calibri"/>
              </a:rPr>
              <a:t>Data Visualization Design (CS4001)  Group Project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6"/>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 name="Google Shape;67;p16"/>
          <p:cNvSpPr txBox="1"/>
          <p:nvPr/>
        </p:nvSpPr>
        <p:spPr>
          <a:xfrm>
            <a:off x="373745" y="787079"/>
            <a:ext cx="85725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ADCFC"/>
              </a:buClr>
              <a:buSzPts val="800"/>
              <a:buFont typeface="Calibri"/>
              <a:buNone/>
            </a:pPr>
            <a:r>
              <a:rPr b="1" lang="en" sz="1800">
                <a:solidFill>
                  <a:srgbClr val="1E2A4A"/>
                </a:solidFill>
                <a:latin typeface="Calibri"/>
                <a:ea typeface="Calibri"/>
                <a:cs typeface="Calibri"/>
                <a:sym typeface="Calibri"/>
              </a:rPr>
              <a:t>Context</a:t>
            </a:r>
            <a:endParaRPr b="0" i="0" sz="1800" u="none" cap="none" strike="noStrike">
              <a:solidFill>
                <a:srgbClr val="1E2A4A"/>
              </a:solidFill>
              <a:latin typeface="Calibri"/>
              <a:ea typeface="Calibri"/>
              <a:cs typeface="Calibri"/>
              <a:sym typeface="Calibri"/>
            </a:endParaRPr>
          </a:p>
        </p:txBody>
      </p:sp>
      <p:sp>
        <p:nvSpPr>
          <p:cNvPr id="68" name="Google Shape;68;p16"/>
          <p:cNvSpPr txBox="1"/>
          <p:nvPr/>
        </p:nvSpPr>
        <p:spPr>
          <a:xfrm>
            <a:off x="174870" y="147451"/>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lang="en" sz="2200">
                <a:solidFill>
                  <a:srgbClr val="FFFFFF"/>
                </a:solidFill>
                <a:latin typeface="Calibri"/>
                <a:ea typeface="Calibri"/>
                <a:cs typeface="Calibri"/>
                <a:sym typeface="Calibri"/>
              </a:rPr>
              <a:t>Introduction &amp; </a:t>
            </a:r>
            <a:r>
              <a:rPr b="1" i="0" lang="en" sz="2200" u="none" cap="none" strike="noStrike">
                <a:solidFill>
                  <a:srgbClr val="FFFFFF"/>
                </a:solidFill>
                <a:latin typeface="Calibri"/>
                <a:ea typeface="Calibri"/>
                <a:cs typeface="Calibri"/>
                <a:sym typeface="Calibri"/>
              </a:rPr>
              <a:t>Business Problem</a:t>
            </a:r>
            <a:endParaRPr b="0" i="0" sz="2200" u="none" cap="none" strike="noStrike">
              <a:solidFill>
                <a:schemeClr val="dk1"/>
              </a:solidFill>
              <a:latin typeface="Calibri"/>
              <a:ea typeface="Calibri"/>
              <a:cs typeface="Calibri"/>
              <a:sym typeface="Calibri"/>
            </a:endParaRPr>
          </a:p>
        </p:txBody>
      </p:sp>
      <p:sp>
        <p:nvSpPr>
          <p:cNvPr id="69" name="Google Shape;69;p16"/>
          <p:cNvSpPr txBox="1"/>
          <p:nvPr/>
        </p:nvSpPr>
        <p:spPr>
          <a:xfrm>
            <a:off x="411475" y="1032140"/>
            <a:ext cx="8534700" cy="971700"/>
          </a:xfrm>
          <a:prstGeom prst="rect">
            <a:avLst/>
          </a:prstGeom>
          <a:noFill/>
          <a:ln>
            <a:noFill/>
          </a:ln>
        </p:spPr>
        <p:txBody>
          <a:bodyPr anchorCtr="0" anchor="t" bIns="34275" lIns="68575" spcFirstLastPara="1" rIns="68575" wrap="square" tIns="34275">
            <a:noAutofit/>
          </a:bodyPr>
          <a:lstStyle/>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Olist connects thousands of small and medium sellers across Brazil to customers, handling listing, payment, and logistics through one unified marketplace</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Leadership's </a:t>
            </a:r>
            <a:r>
              <a:rPr lang="en" sz="1600">
                <a:solidFill>
                  <a:srgbClr val="222222"/>
                </a:solidFill>
                <a:latin typeface="Calibri"/>
                <a:ea typeface="Calibri"/>
                <a:cs typeface="Calibri"/>
                <a:sym typeface="Calibri"/>
              </a:rPr>
              <a:t>main </a:t>
            </a:r>
            <a:r>
              <a:rPr b="0" i="0" lang="en" sz="1600" u="none" cap="none" strike="noStrike">
                <a:solidFill>
                  <a:srgbClr val="222222"/>
                </a:solidFill>
                <a:latin typeface="Calibri"/>
                <a:ea typeface="Calibri"/>
                <a:cs typeface="Calibri"/>
                <a:sym typeface="Calibri"/>
              </a:rPr>
              <a:t>goal</a:t>
            </a:r>
            <a:r>
              <a:rPr lang="en" sz="1600">
                <a:solidFill>
                  <a:srgbClr val="222222"/>
                </a:solidFill>
                <a:latin typeface="Calibri"/>
                <a:ea typeface="Calibri"/>
                <a:cs typeface="Calibri"/>
                <a:sym typeface="Calibri"/>
              </a:rPr>
              <a:t> is to</a:t>
            </a:r>
            <a:r>
              <a:rPr b="0" i="0" lang="en" sz="1600" u="none" cap="none" strike="noStrike">
                <a:solidFill>
                  <a:srgbClr val="222222"/>
                </a:solidFill>
                <a:latin typeface="Calibri"/>
                <a:ea typeface="Calibri"/>
                <a:cs typeface="Calibri"/>
                <a:sym typeface="Calibri"/>
              </a:rPr>
              <a:t> grow the marketplace without breaking the customer experience</a:t>
            </a:r>
            <a:endParaRPr sz="1600">
              <a:solidFill>
                <a:srgbClr val="222222"/>
              </a:solidFill>
              <a:latin typeface="Calibri"/>
              <a:ea typeface="Calibri"/>
              <a:cs typeface="Calibri"/>
              <a:sym typeface="Calibri"/>
            </a:endParaRPr>
          </a:p>
        </p:txBody>
      </p:sp>
      <p:sp>
        <p:nvSpPr>
          <p:cNvPr id="70" name="Google Shape;70;p16"/>
          <p:cNvSpPr txBox="1"/>
          <p:nvPr/>
        </p:nvSpPr>
        <p:spPr>
          <a:xfrm>
            <a:off x="375312" y="1963757"/>
            <a:ext cx="85725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ADCFC"/>
              </a:buClr>
              <a:buSzPts val="800"/>
              <a:buFont typeface="Calibri"/>
              <a:buNone/>
            </a:pPr>
            <a:r>
              <a:rPr b="1" lang="en" sz="1800">
                <a:solidFill>
                  <a:srgbClr val="1E2A4A"/>
                </a:solidFill>
                <a:latin typeface="Calibri"/>
                <a:ea typeface="Calibri"/>
                <a:cs typeface="Calibri"/>
                <a:sym typeface="Calibri"/>
              </a:rPr>
              <a:t>Problem</a:t>
            </a:r>
            <a:endParaRPr b="0" i="0" sz="1800" u="none" cap="none" strike="noStrike">
              <a:solidFill>
                <a:srgbClr val="1E2A4A"/>
              </a:solidFill>
              <a:latin typeface="Calibri"/>
              <a:ea typeface="Calibri"/>
              <a:cs typeface="Calibri"/>
              <a:sym typeface="Calibri"/>
            </a:endParaRPr>
          </a:p>
        </p:txBody>
      </p:sp>
      <p:sp>
        <p:nvSpPr>
          <p:cNvPr id="71" name="Google Shape;71;p16"/>
          <p:cNvSpPr txBox="1"/>
          <p:nvPr/>
        </p:nvSpPr>
        <p:spPr>
          <a:xfrm>
            <a:off x="413050" y="2208826"/>
            <a:ext cx="8534700" cy="1155900"/>
          </a:xfrm>
          <a:prstGeom prst="rect">
            <a:avLst/>
          </a:prstGeom>
          <a:noFill/>
          <a:ln>
            <a:noFill/>
          </a:ln>
        </p:spPr>
        <p:txBody>
          <a:bodyPr anchorCtr="0" anchor="t" bIns="34275" lIns="68575" spcFirstLastPara="1" rIns="68575" wrap="square" tIns="34275">
            <a:noAutofit/>
          </a:bodyPr>
          <a:lstStyle/>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Sellers are being onboarded aggressively and the sales are rising but late deliveries and bad reviews are piling up as a result as well.</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All the decisions made currently are based on a gut feeling which is leading to more growth but less satisfaction.</a:t>
            </a:r>
            <a:endParaRPr sz="1600">
              <a:solidFill>
                <a:srgbClr val="222222"/>
              </a:solidFill>
              <a:latin typeface="Calibri"/>
              <a:ea typeface="Calibri"/>
              <a:cs typeface="Calibri"/>
              <a:sym typeface="Calibri"/>
            </a:endParaRPr>
          </a:p>
        </p:txBody>
      </p:sp>
      <p:sp>
        <p:nvSpPr>
          <p:cNvPr id="72" name="Google Shape;72;p16"/>
          <p:cNvSpPr txBox="1"/>
          <p:nvPr/>
        </p:nvSpPr>
        <p:spPr>
          <a:xfrm>
            <a:off x="374040" y="3381693"/>
            <a:ext cx="85725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ADCFC"/>
              </a:buClr>
              <a:buSzPts val="800"/>
              <a:buFont typeface="Calibri"/>
              <a:buNone/>
            </a:pPr>
            <a:r>
              <a:rPr b="1" lang="en" sz="1800">
                <a:solidFill>
                  <a:srgbClr val="1E2A4A"/>
                </a:solidFill>
                <a:latin typeface="Calibri"/>
                <a:ea typeface="Calibri"/>
                <a:cs typeface="Calibri"/>
                <a:sym typeface="Calibri"/>
              </a:rPr>
              <a:t>Objective</a:t>
            </a:r>
            <a:endParaRPr b="0" i="0" sz="1800" u="none" cap="none" strike="noStrike">
              <a:solidFill>
                <a:srgbClr val="1E2A4A"/>
              </a:solidFill>
              <a:latin typeface="Calibri"/>
              <a:ea typeface="Calibri"/>
              <a:cs typeface="Calibri"/>
              <a:sym typeface="Calibri"/>
            </a:endParaRPr>
          </a:p>
        </p:txBody>
      </p:sp>
      <p:sp>
        <p:nvSpPr>
          <p:cNvPr id="73" name="Google Shape;73;p16"/>
          <p:cNvSpPr txBox="1"/>
          <p:nvPr/>
        </p:nvSpPr>
        <p:spPr>
          <a:xfrm>
            <a:off x="411775" y="3626761"/>
            <a:ext cx="8534700" cy="1332900"/>
          </a:xfrm>
          <a:prstGeom prst="rect">
            <a:avLst/>
          </a:prstGeom>
          <a:noFill/>
          <a:ln>
            <a:noFill/>
          </a:ln>
        </p:spPr>
        <p:txBody>
          <a:bodyPr anchorCtr="0" anchor="t" bIns="34275" lIns="68575" spcFirstLastPara="1" rIns="68575" wrap="square" tIns="34275">
            <a:noAutofit/>
          </a:bodyPr>
          <a:lstStyle/>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Study the whole journey from order placement to the delivery, and finally the customer reviews and their satisfaction/dissatisfaction.</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Do a clear visual study of what drives customer satisfaction and identify the areas where the risk is slowly building up.</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Prepare and present a clear story using supporting visualizations and an interactive dashboard.</a:t>
            </a:r>
            <a:endParaRPr sz="1600">
              <a:solidFill>
                <a:srgbClr val="222222"/>
              </a:solidFill>
              <a:latin typeface="Calibri"/>
              <a:ea typeface="Calibri"/>
              <a:cs typeface="Calibri"/>
              <a:sym typeface="Calibri"/>
            </a:endParaRPr>
          </a:p>
          <a:p>
            <a:pPr indent="0" lvl="0" marL="457200" marR="0" rtl="0" algn="l">
              <a:lnSpc>
                <a:spcPct val="115000"/>
              </a:lnSpc>
              <a:spcBef>
                <a:spcPts val="0"/>
              </a:spcBef>
              <a:spcAft>
                <a:spcPts val="0"/>
              </a:spcAft>
              <a:buNone/>
            </a:pPr>
            <a:r>
              <a:t/>
            </a:r>
            <a:endParaRPr sz="1600">
              <a:solidFill>
                <a:srgbClr val="22222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7"/>
          <p:cNvSpPr txBox="1"/>
          <p:nvPr/>
        </p:nvSpPr>
        <p:spPr>
          <a:xfrm>
            <a:off x="274320" y="156493"/>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i="0" lang="en" sz="2200" u="none" cap="none" strike="noStrike">
                <a:solidFill>
                  <a:srgbClr val="FFFFFF"/>
                </a:solidFill>
                <a:latin typeface="Calibri"/>
                <a:ea typeface="Calibri"/>
                <a:cs typeface="Calibri"/>
                <a:sym typeface="Calibri"/>
              </a:rPr>
              <a:t>Dataset </a:t>
            </a:r>
            <a:r>
              <a:rPr b="1" i="0" lang="en" sz="2200" u="none" cap="none" strike="noStrike">
                <a:solidFill>
                  <a:srgbClr val="FFFFFF"/>
                </a:solidFill>
                <a:latin typeface="Calibri"/>
                <a:ea typeface="Calibri"/>
                <a:cs typeface="Calibri"/>
                <a:sym typeface="Calibri"/>
              </a:rPr>
              <a:t>Overview</a:t>
            </a:r>
            <a:endParaRPr b="0" i="0" sz="2200" u="none" cap="none" strike="noStrike">
              <a:solidFill>
                <a:schemeClr val="dk1"/>
              </a:solidFill>
              <a:latin typeface="Calibri"/>
              <a:ea typeface="Calibri"/>
              <a:cs typeface="Calibri"/>
              <a:sym typeface="Calibri"/>
            </a:endParaRPr>
          </a:p>
        </p:txBody>
      </p:sp>
      <p:sp>
        <p:nvSpPr>
          <p:cNvPr id="81" name="Google Shape;81;p17"/>
          <p:cNvSpPr txBox="1"/>
          <p:nvPr/>
        </p:nvSpPr>
        <p:spPr>
          <a:xfrm>
            <a:off x="411475" y="891547"/>
            <a:ext cx="8229600" cy="3543900"/>
          </a:xfrm>
          <a:prstGeom prst="rect">
            <a:avLst/>
          </a:prstGeom>
          <a:noFill/>
          <a:ln>
            <a:noFill/>
          </a:ln>
        </p:spPr>
        <p:txBody>
          <a:bodyPr anchorCtr="0" anchor="t" bIns="34275" lIns="68575" spcFirstLastPara="1" rIns="68575" wrap="square" tIns="34275">
            <a:noAutofit/>
          </a:bodyPr>
          <a:lstStyle/>
          <a:p>
            <a:pPr indent="-342900" lvl="0" marL="457200" marR="0" rtl="0" algn="l">
              <a:lnSpc>
                <a:spcPct val="115000"/>
              </a:lnSpc>
              <a:spcBef>
                <a:spcPts val="0"/>
              </a:spcBef>
              <a:spcAft>
                <a:spcPts val="0"/>
              </a:spcAft>
              <a:buClr>
                <a:srgbClr val="222222"/>
              </a:buClr>
              <a:buSzPts val="1800"/>
              <a:buFont typeface="Calibri"/>
              <a:buChar char="●"/>
            </a:pPr>
            <a:r>
              <a:rPr b="0" i="0" lang="en" sz="1800" u="none" cap="none" strike="noStrike">
                <a:solidFill>
                  <a:srgbClr val="222222"/>
                </a:solidFill>
                <a:latin typeface="Calibri"/>
                <a:ea typeface="Calibri"/>
                <a:cs typeface="Calibri"/>
                <a:sym typeface="Calibri"/>
              </a:rPr>
              <a:t>Olist Brazilian E-Commerce dataset </a:t>
            </a:r>
            <a:r>
              <a:rPr lang="en" sz="1800">
                <a:solidFill>
                  <a:srgbClr val="222222"/>
                </a:solidFill>
                <a:latin typeface="Calibri"/>
                <a:ea typeface="Calibri"/>
                <a:cs typeface="Calibri"/>
                <a:sym typeface="Calibri"/>
              </a:rPr>
              <a:t>and</a:t>
            </a:r>
            <a:r>
              <a:rPr b="0" i="0" lang="en" sz="1800" u="none" cap="none" strike="noStrike">
                <a:solidFill>
                  <a:srgbClr val="222222"/>
                </a:solidFill>
                <a:latin typeface="Calibri"/>
                <a:ea typeface="Calibri"/>
                <a:cs typeface="Calibri"/>
                <a:sym typeface="Calibri"/>
              </a:rPr>
              <a:t> an </a:t>
            </a:r>
            <a:r>
              <a:rPr lang="en" sz="1800">
                <a:solidFill>
                  <a:srgbClr val="222222"/>
                </a:solidFill>
                <a:latin typeface="Calibri"/>
                <a:ea typeface="Calibri"/>
                <a:cs typeface="Calibri"/>
                <a:sym typeface="Calibri"/>
              </a:rPr>
              <a:t>accompanying</a:t>
            </a:r>
            <a:r>
              <a:rPr b="0" i="0" lang="en" sz="1800" u="none" cap="none" strike="noStrike">
                <a:solidFill>
                  <a:srgbClr val="222222"/>
                </a:solidFill>
                <a:latin typeface="Calibri"/>
                <a:ea typeface="Calibri"/>
                <a:cs typeface="Calibri"/>
                <a:sym typeface="Calibri"/>
              </a:rPr>
              <a:t> Marketing Funnel dataset </a:t>
            </a:r>
            <a:r>
              <a:rPr lang="en" sz="1800">
                <a:solidFill>
                  <a:srgbClr val="222222"/>
                </a:solidFill>
                <a:latin typeface="Calibri"/>
                <a:ea typeface="Calibri"/>
                <a:cs typeface="Calibri"/>
                <a:sym typeface="Calibri"/>
              </a:rPr>
              <a:t>(total</a:t>
            </a:r>
            <a:r>
              <a:rPr b="0" i="0" lang="en" sz="1800" u="none" cap="none" strike="noStrike">
                <a:solidFill>
                  <a:srgbClr val="222222"/>
                </a:solidFill>
                <a:latin typeface="Calibri"/>
                <a:ea typeface="Calibri"/>
                <a:cs typeface="Calibri"/>
                <a:sym typeface="Calibri"/>
              </a:rPr>
              <a:t> 11 raw CSV files)</a:t>
            </a:r>
            <a:endParaRPr b="0" i="0" sz="1800" u="none" cap="none" strike="noStrike">
              <a:solidFill>
                <a:schemeClr val="dk1"/>
              </a:solidFill>
              <a:latin typeface="Calibri"/>
              <a:ea typeface="Calibri"/>
              <a:cs typeface="Calibri"/>
              <a:sym typeface="Calibri"/>
            </a:endParaRPr>
          </a:p>
          <a:p>
            <a:pPr indent="-342900" lvl="0" marL="457200" marR="0" rtl="0" algn="l">
              <a:lnSpc>
                <a:spcPct val="115000"/>
              </a:lnSpc>
              <a:spcBef>
                <a:spcPts val="0"/>
              </a:spcBef>
              <a:spcAft>
                <a:spcPts val="0"/>
              </a:spcAft>
              <a:buClr>
                <a:srgbClr val="222222"/>
              </a:buClr>
              <a:buSzPts val="1800"/>
              <a:buFont typeface="Calibri"/>
              <a:buChar char="●"/>
            </a:pPr>
            <a:r>
              <a:rPr b="0" i="0" lang="en" sz="1800" u="none" cap="none" strike="noStrike">
                <a:solidFill>
                  <a:srgbClr val="222222"/>
                </a:solidFill>
                <a:latin typeface="Calibri"/>
                <a:ea typeface="Calibri"/>
                <a:cs typeface="Calibri"/>
                <a:sym typeface="Calibri"/>
              </a:rPr>
              <a:t>99,441 orders spanning September 2016 to October 2018</a:t>
            </a:r>
            <a:endParaRPr b="0" i="0" sz="1800" u="none" cap="none" strike="noStrike">
              <a:solidFill>
                <a:schemeClr val="dk1"/>
              </a:solidFill>
              <a:latin typeface="Calibri"/>
              <a:ea typeface="Calibri"/>
              <a:cs typeface="Calibri"/>
              <a:sym typeface="Calibri"/>
            </a:endParaRPr>
          </a:p>
          <a:p>
            <a:pPr indent="-342900" lvl="0" marL="457200" marR="0" rtl="0" algn="l">
              <a:lnSpc>
                <a:spcPct val="115000"/>
              </a:lnSpc>
              <a:spcBef>
                <a:spcPts val="0"/>
              </a:spcBef>
              <a:spcAft>
                <a:spcPts val="0"/>
              </a:spcAft>
              <a:buClr>
                <a:srgbClr val="222222"/>
              </a:buClr>
              <a:buSzPts val="1800"/>
              <a:buFont typeface="Calibri"/>
              <a:buChar char="●"/>
            </a:pPr>
            <a:r>
              <a:rPr b="0" i="0" lang="en" sz="1800" u="none" cap="none" strike="noStrike">
                <a:solidFill>
                  <a:srgbClr val="222222"/>
                </a:solidFill>
                <a:latin typeface="Calibri"/>
                <a:ea typeface="Calibri"/>
                <a:cs typeface="Calibri"/>
                <a:sym typeface="Calibri"/>
              </a:rPr>
              <a:t>Five analysis </a:t>
            </a:r>
            <a:r>
              <a:rPr lang="en" sz="1800">
                <a:solidFill>
                  <a:srgbClr val="222222"/>
                </a:solidFill>
                <a:latin typeface="Calibri"/>
                <a:ea typeface="Calibri"/>
                <a:cs typeface="Calibri"/>
                <a:sym typeface="Calibri"/>
              </a:rPr>
              <a:t>categories,</a:t>
            </a:r>
            <a:r>
              <a:rPr b="0" i="0" lang="en" sz="1800" u="none" cap="none" strike="noStrike">
                <a:solidFill>
                  <a:srgbClr val="222222"/>
                </a:solidFill>
                <a:latin typeface="Calibri"/>
                <a:ea typeface="Calibri"/>
                <a:cs typeface="Calibri"/>
                <a:sym typeface="Calibri"/>
              </a:rPr>
              <a:t> each following the order journey:</a:t>
            </a:r>
            <a:endParaRPr b="0" i="0" sz="1800" u="none" cap="none" strike="noStrike">
              <a:solidFill>
                <a:srgbClr val="222222"/>
              </a:solidFill>
              <a:latin typeface="Calibri"/>
              <a:ea typeface="Calibri"/>
              <a:cs typeface="Calibri"/>
              <a:sym typeface="Calibri"/>
            </a:endParaRPr>
          </a:p>
          <a:p>
            <a:pPr indent="-342900" lvl="0" marL="1371600" marR="0" rtl="0" algn="l">
              <a:lnSpc>
                <a:spcPct val="115000"/>
              </a:lnSpc>
              <a:spcBef>
                <a:spcPts val="0"/>
              </a:spcBef>
              <a:spcAft>
                <a:spcPts val="0"/>
              </a:spcAft>
              <a:buClr>
                <a:srgbClr val="222222"/>
              </a:buClr>
              <a:buSzPts val="1800"/>
              <a:buFont typeface="Calibri"/>
              <a:buAutoNum type="alphaUcPeriod"/>
            </a:pPr>
            <a:r>
              <a:rPr lang="en" sz="1800">
                <a:solidFill>
                  <a:srgbClr val="222222"/>
                </a:solidFill>
                <a:latin typeface="Calibri"/>
                <a:ea typeface="Calibri"/>
                <a:cs typeface="Calibri"/>
                <a:sym typeface="Calibri"/>
              </a:rPr>
              <a:t>Payments &amp; Orders</a:t>
            </a:r>
            <a:endParaRPr sz="1800">
              <a:solidFill>
                <a:srgbClr val="222222"/>
              </a:solidFill>
              <a:latin typeface="Calibri"/>
              <a:ea typeface="Calibri"/>
              <a:cs typeface="Calibri"/>
              <a:sym typeface="Calibri"/>
            </a:endParaRPr>
          </a:p>
          <a:p>
            <a:pPr indent="-342900" lvl="0" marL="1371600" marR="0" rtl="0" algn="l">
              <a:lnSpc>
                <a:spcPct val="115000"/>
              </a:lnSpc>
              <a:spcBef>
                <a:spcPts val="0"/>
              </a:spcBef>
              <a:spcAft>
                <a:spcPts val="0"/>
              </a:spcAft>
              <a:buClr>
                <a:srgbClr val="222222"/>
              </a:buClr>
              <a:buSzPts val="1800"/>
              <a:buFont typeface="Calibri"/>
              <a:buAutoNum type="alphaUcPeriod"/>
            </a:pPr>
            <a:r>
              <a:rPr lang="en" sz="1800">
                <a:solidFill>
                  <a:srgbClr val="222222"/>
                </a:solidFill>
                <a:latin typeface="Calibri"/>
                <a:ea typeface="Calibri"/>
                <a:cs typeface="Calibri"/>
                <a:sym typeface="Calibri"/>
              </a:rPr>
              <a:t>Products &amp; Categories</a:t>
            </a:r>
            <a:endParaRPr sz="1800">
              <a:solidFill>
                <a:srgbClr val="222222"/>
              </a:solidFill>
              <a:latin typeface="Calibri"/>
              <a:ea typeface="Calibri"/>
              <a:cs typeface="Calibri"/>
              <a:sym typeface="Calibri"/>
            </a:endParaRPr>
          </a:p>
          <a:p>
            <a:pPr indent="-342900" lvl="0" marL="1371600" marR="0" rtl="0" algn="l">
              <a:lnSpc>
                <a:spcPct val="115000"/>
              </a:lnSpc>
              <a:spcBef>
                <a:spcPts val="0"/>
              </a:spcBef>
              <a:spcAft>
                <a:spcPts val="0"/>
              </a:spcAft>
              <a:buClr>
                <a:srgbClr val="222222"/>
              </a:buClr>
              <a:buSzPts val="1800"/>
              <a:buFont typeface="Calibri"/>
              <a:buAutoNum type="alphaUcPeriod"/>
            </a:pPr>
            <a:r>
              <a:rPr lang="en" sz="1800">
                <a:solidFill>
                  <a:srgbClr val="222222"/>
                </a:solidFill>
                <a:latin typeface="Calibri"/>
                <a:ea typeface="Calibri"/>
                <a:cs typeface="Calibri"/>
                <a:sym typeface="Calibri"/>
              </a:rPr>
              <a:t>Sellers &amp; </a:t>
            </a:r>
            <a:r>
              <a:rPr lang="en" sz="1800">
                <a:solidFill>
                  <a:srgbClr val="222222"/>
                </a:solidFill>
                <a:latin typeface="Calibri"/>
                <a:ea typeface="Calibri"/>
                <a:cs typeface="Calibri"/>
                <a:sym typeface="Calibri"/>
              </a:rPr>
              <a:t>Logistics</a:t>
            </a:r>
            <a:endParaRPr sz="1800">
              <a:solidFill>
                <a:srgbClr val="222222"/>
              </a:solidFill>
              <a:latin typeface="Calibri"/>
              <a:ea typeface="Calibri"/>
              <a:cs typeface="Calibri"/>
              <a:sym typeface="Calibri"/>
            </a:endParaRPr>
          </a:p>
          <a:p>
            <a:pPr indent="-342900" lvl="0" marL="1371600" marR="0" rtl="0" algn="l">
              <a:lnSpc>
                <a:spcPct val="115000"/>
              </a:lnSpc>
              <a:spcBef>
                <a:spcPts val="0"/>
              </a:spcBef>
              <a:spcAft>
                <a:spcPts val="0"/>
              </a:spcAft>
              <a:buClr>
                <a:srgbClr val="222222"/>
              </a:buClr>
              <a:buSzPts val="1800"/>
              <a:buFont typeface="Calibri"/>
              <a:buAutoNum type="alphaUcPeriod"/>
            </a:pPr>
            <a:r>
              <a:rPr lang="en" sz="1800">
                <a:solidFill>
                  <a:srgbClr val="222222"/>
                </a:solidFill>
                <a:latin typeface="Calibri"/>
                <a:ea typeface="Calibri"/>
                <a:cs typeface="Calibri"/>
                <a:sym typeface="Calibri"/>
              </a:rPr>
              <a:t>Customers &amp; Reviews</a:t>
            </a:r>
            <a:endParaRPr sz="1800">
              <a:solidFill>
                <a:srgbClr val="222222"/>
              </a:solidFill>
              <a:latin typeface="Calibri"/>
              <a:ea typeface="Calibri"/>
              <a:cs typeface="Calibri"/>
              <a:sym typeface="Calibri"/>
            </a:endParaRPr>
          </a:p>
          <a:p>
            <a:pPr indent="-342900" lvl="0" marL="1371600" marR="0" rtl="0" algn="l">
              <a:lnSpc>
                <a:spcPct val="115000"/>
              </a:lnSpc>
              <a:spcBef>
                <a:spcPts val="0"/>
              </a:spcBef>
              <a:spcAft>
                <a:spcPts val="0"/>
              </a:spcAft>
              <a:buClr>
                <a:srgbClr val="222222"/>
              </a:buClr>
              <a:buSzPts val="1800"/>
              <a:buFont typeface="Calibri"/>
              <a:buAutoNum type="alphaUcPeriod"/>
            </a:pPr>
            <a:r>
              <a:rPr lang="en" sz="1800">
                <a:solidFill>
                  <a:srgbClr val="222222"/>
                </a:solidFill>
                <a:latin typeface="Calibri"/>
                <a:ea typeface="Calibri"/>
                <a:cs typeface="Calibri"/>
                <a:sym typeface="Calibri"/>
              </a:rPr>
              <a:t>Marketing Funnel</a:t>
            </a:r>
            <a:endParaRPr sz="1800">
              <a:solidFill>
                <a:srgbClr val="222222"/>
              </a:solidFill>
              <a:latin typeface="Calibri"/>
              <a:ea typeface="Calibri"/>
              <a:cs typeface="Calibri"/>
              <a:sym typeface="Calibri"/>
            </a:endParaRPr>
          </a:p>
          <a:p>
            <a:pPr indent="-342900" lvl="0" marL="457200" marR="0" rtl="0" algn="l">
              <a:lnSpc>
                <a:spcPct val="115000"/>
              </a:lnSpc>
              <a:spcBef>
                <a:spcPts val="0"/>
              </a:spcBef>
              <a:spcAft>
                <a:spcPts val="0"/>
              </a:spcAft>
              <a:buClr>
                <a:srgbClr val="222222"/>
              </a:buClr>
              <a:buSzPts val="1800"/>
              <a:buFont typeface="Calibri"/>
              <a:buChar char="●"/>
            </a:pPr>
            <a:r>
              <a:rPr lang="en" sz="1800">
                <a:solidFill>
                  <a:srgbClr val="222222"/>
                </a:solidFill>
                <a:latin typeface="Calibri"/>
                <a:ea typeface="Calibri"/>
                <a:cs typeface="Calibri"/>
                <a:sym typeface="Calibri"/>
              </a:rPr>
              <a:t>After a separate analysis in each of the five categories, one master file was created containing 99,441 rows and 69 different columns.</a:t>
            </a:r>
            <a:endParaRPr sz="1800">
              <a:solidFill>
                <a:srgbClr val="22222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8"/>
          <p:cNvSpPr txBox="1"/>
          <p:nvPr/>
        </p:nvSpPr>
        <p:spPr>
          <a:xfrm>
            <a:off x="225945" y="147451"/>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lang="en" sz="2200">
                <a:solidFill>
                  <a:srgbClr val="FFFFFF"/>
                </a:solidFill>
                <a:latin typeface="Calibri"/>
                <a:ea typeface="Calibri"/>
                <a:cs typeface="Calibri"/>
                <a:sym typeface="Calibri"/>
              </a:rPr>
              <a:t>Some gaps in the data</a:t>
            </a:r>
            <a:endParaRPr b="0" i="0" sz="2200" u="none" cap="none" strike="noStrike">
              <a:solidFill>
                <a:schemeClr val="dk1"/>
              </a:solidFill>
              <a:latin typeface="Calibri"/>
              <a:ea typeface="Calibri"/>
              <a:cs typeface="Calibri"/>
              <a:sym typeface="Calibri"/>
            </a:endParaRPr>
          </a:p>
        </p:txBody>
      </p:sp>
      <p:pic>
        <p:nvPicPr>
          <p:cNvPr id="89" name="Google Shape;89;p18" title="Data Anomalies.png"/>
          <p:cNvPicPr preferRelativeResize="0"/>
          <p:nvPr/>
        </p:nvPicPr>
        <p:blipFill>
          <a:blip r:embed="rId3">
            <a:alphaModFix/>
          </a:blip>
          <a:stretch>
            <a:fillRect/>
          </a:stretch>
        </p:blipFill>
        <p:spPr>
          <a:xfrm>
            <a:off x="243346" y="2047599"/>
            <a:ext cx="4402299" cy="2613728"/>
          </a:xfrm>
          <a:prstGeom prst="rect">
            <a:avLst/>
          </a:prstGeom>
          <a:noFill/>
          <a:ln>
            <a:noFill/>
          </a:ln>
        </p:spPr>
      </p:pic>
      <p:pic>
        <p:nvPicPr>
          <p:cNvPr id="90" name="Google Shape;90;p18" title="Non response bias proof.png"/>
          <p:cNvPicPr preferRelativeResize="0"/>
          <p:nvPr/>
        </p:nvPicPr>
        <p:blipFill>
          <a:blip r:embed="rId4">
            <a:alphaModFix/>
          </a:blip>
          <a:stretch>
            <a:fillRect/>
          </a:stretch>
        </p:blipFill>
        <p:spPr>
          <a:xfrm>
            <a:off x="4933467" y="2190202"/>
            <a:ext cx="4038776" cy="2471124"/>
          </a:xfrm>
          <a:prstGeom prst="rect">
            <a:avLst/>
          </a:prstGeom>
          <a:noFill/>
          <a:ln>
            <a:noFill/>
          </a:ln>
        </p:spPr>
      </p:pic>
      <p:sp>
        <p:nvSpPr>
          <p:cNvPr id="91" name="Google Shape;91;p18"/>
          <p:cNvSpPr txBox="1"/>
          <p:nvPr/>
        </p:nvSpPr>
        <p:spPr>
          <a:xfrm>
            <a:off x="4691527" y="846654"/>
            <a:ext cx="43149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222222"/>
                </a:solidFill>
                <a:latin typeface="Calibri"/>
                <a:ea typeface="Calibri"/>
                <a:cs typeface="Calibri"/>
                <a:sym typeface="Calibri"/>
              </a:rPr>
              <a:t>A gap in reviews: </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646 delivered orders have no review which is a real gap that could either be extraction limitation or non response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But since orders with no</a:t>
            </a:r>
            <a:r>
              <a:rPr lang="en" sz="1200">
                <a:solidFill>
                  <a:srgbClr val="222222"/>
                </a:solidFill>
                <a:latin typeface="Calibri"/>
                <a:ea typeface="Calibri"/>
                <a:cs typeface="Calibri"/>
                <a:sym typeface="Calibri"/>
              </a:rPr>
              <a:t> reviews are NOT concentrated near the dataset's extraction cutoff, it is genuinely non response from customers</a:t>
            </a:r>
            <a:endParaRPr sz="1200"/>
          </a:p>
        </p:txBody>
      </p:sp>
      <p:sp>
        <p:nvSpPr>
          <p:cNvPr id="92" name="Google Shape;92;p18"/>
          <p:cNvSpPr txBox="1"/>
          <p:nvPr/>
        </p:nvSpPr>
        <p:spPr>
          <a:xfrm>
            <a:off x="376627" y="952854"/>
            <a:ext cx="43149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222222"/>
                </a:solidFill>
                <a:latin typeface="Calibri"/>
                <a:ea typeface="Calibri"/>
                <a:cs typeface="Calibri"/>
                <a:sym typeface="Calibri"/>
              </a:rPr>
              <a:t>Data anomalies that were found:</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2 chronologically impossible orders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chemeClr val="dk1"/>
                </a:solidFill>
                <a:latin typeface="Calibri"/>
                <a:ea typeface="Calibri"/>
                <a:cs typeface="Calibri"/>
                <a:sym typeface="Calibri"/>
              </a:rPr>
              <a:t>1 missing payment record</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1174 logging </a:t>
            </a:r>
            <a:r>
              <a:rPr lang="en" sz="1200">
                <a:solidFill>
                  <a:srgbClr val="222222"/>
                </a:solidFill>
                <a:latin typeface="Calibri"/>
                <a:ea typeface="Calibri"/>
                <a:cs typeface="Calibri"/>
                <a:sym typeface="Calibri"/>
              </a:rPr>
              <a:t>mismatches</a:t>
            </a:r>
            <a:r>
              <a:rPr lang="en" sz="1200">
                <a:solidFill>
                  <a:srgbClr val="222222"/>
                </a:solidFill>
                <a:latin typeface="Calibri"/>
                <a:ea typeface="Calibri"/>
                <a:cs typeface="Calibri"/>
                <a:sym typeface="Calibri"/>
              </a:rPr>
              <a:t> of timestamps</a:t>
            </a:r>
            <a:endParaRPr sz="1200">
              <a:solidFill>
                <a:srgbClr val="22222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9"/>
          <p:cNvSpPr txBox="1"/>
          <p:nvPr/>
        </p:nvSpPr>
        <p:spPr>
          <a:xfrm>
            <a:off x="285745" y="147494"/>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i="0" lang="en" sz="2200" u="none" cap="none" strike="noStrike">
                <a:solidFill>
                  <a:srgbClr val="FFFFFF"/>
                </a:solidFill>
                <a:latin typeface="Calibri"/>
                <a:ea typeface="Calibri"/>
                <a:cs typeface="Calibri"/>
                <a:sym typeface="Calibri"/>
              </a:rPr>
              <a:t>Feature Engineering &amp; Derived Metrics</a:t>
            </a:r>
            <a:endParaRPr b="0" i="0" sz="2200" u="none" cap="none" strike="noStrike">
              <a:solidFill>
                <a:schemeClr val="dk1"/>
              </a:solidFill>
              <a:latin typeface="Calibri"/>
              <a:ea typeface="Calibri"/>
              <a:cs typeface="Calibri"/>
              <a:sym typeface="Calibri"/>
            </a:endParaRPr>
          </a:p>
        </p:txBody>
      </p:sp>
      <p:sp>
        <p:nvSpPr>
          <p:cNvPr id="100" name="Google Shape;100;p19"/>
          <p:cNvSpPr txBox="1"/>
          <p:nvPr/>
        </p:nvSpPr>
        <p:spPr>
          <a:xfrm>
            <a:off x="411480" y="925830"/>
            <a:ext cx="8229600" cy="3566160"/>
          </a:xfrm>
          <a:prstGeom prst="rect">
            <a:avLst/>
          </a:prstGeom>
          <a:noFill/>
          <a:ln>
            <a:noFill/>
          </a:ln>
        </p:spPr>
        <p:txBody>
          <a:bodyPr anchorCtr="0" anchor="t" bIns="34275" lIns="68575" spcFirstLastPara="1" rIns="68575" wrap="square" tIns="34275">
            <a:noAutofit/>
          </a:bodyPr>
          <a:lstStyle/>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d</a:t>
            </a:r>
            <a:r>
              <a:rPr b="0" i="0" lang="en" sz="1600" u="none" cap="none" strike="noStrike">
                <a:solidFill>
                  <a:srgbClr val="222222"/>
                </a:solidFill>
                <a:latin typeface="Calibri"/>
                <a:ea typeface="Calibri"/>
                <a:cs typeface="Calibri"/>
                <a:sym typeface="Calibri"/>
              </a:rPr>
              <a:t>elivery_delay</a:t>
            </a:r>
            <a:r>
              <a:rPr b="0" i="0" lang="en" sz="1600" u="none" cap="none" strike="noStrike">
                <a:solidFill>
                  <a:srgbClr val="222222"/>
                </a:solidFill>
                <a:latin typeface="Calibri"/>
                <a:ea typeface="Calibri"/>
                <a:cs typeface="Calibri"/>
                <a:sym typeface="Calibri"/>
              </a:rPr>
              <a:t>_</a:t>
            </a:r>
            <a:r>
              <a:rPr b="0" i="0" lang="en" sz="1600" u="none" cap="none" strike="noStrike">
                <a:solidFill>
                  <a:srgbClr val="222222"/>
                </a:solidFill>
                <a:latin typeface="Calibri"/>
                <a:ea typeface="Calibri"/>
                <a:cs typeface="Calibri"/>
                <a:sym typeface="Calibri"/>
              </a:rPr>
              <a:t>days </a:t>
            </a:r>
            <a:r>
              <a:rPr lang="en" sz="1600">
                <a:solidFill>
                  <a:srgbClr val="222222"/>
                </a:solidFill>
                <a:latin typeface="Calibri"/>
                <a:ea typeface="Calibri"/>
                <a:cs typeface="Calibri"/>
                <a:sym typeface="Calibri"/>
              </a:rPr>
              <a:t>has been divided into</a:t>
            </a:r>
            <a:r>
              <a:rPr b="0" i="0" lang="en" sz="1600" u="none" cap="none" strike="noStrike">
                <a:solidFill>
                  <a:srgbClr val="222222"/>
                </a:solidFill>
                <a:latin typeface="Calibri"/>
                <a:ea typeface="Calibri"/>
                <a:cs typeface="Calibri"/>
                <a:sym typeface="Calibri"/>
              </a:rPr>
              <a:t> 5</a:t>
            </a:r>
            <a:r>
              <a:rPr lang="en" sz="1600">
                <a:solidFill>
                  <a:srgbClr val="222222"/>
                </a:solidFill>
                <a:latin typeface="Calibri"/>
                <a:ea typeface="Calibri"/>
                <a:cs typeface="Calibri"/>
                <a:sym typeface="Calibri"/>
              </a:rPr>
              <a:t> different delay </a:t>
            </a:r>
            <a:r>
              <a:rPr b="0" i="0" lang="en" sz="1600" u="none" cap="none" strike="noStrike">
                <a:solidFill>
                  <a:srgbClr val="222222"/>
                </a:solidFill>
                <a:latin typeface="Calibri"/>
                <a:ea typeface="Calibri"/>
                <a:cs typeface="Calibri"/>
                <a:sym typeface="Calibri"/>
              </a:rPr>
              <a:t>bucke</a:t>
            </a:r>
            <a:r>
              <a:rPr lang="en" sz="1600">
                <a:solidFill>
                  <a:srgbClr val="222222"/>
                </a:solidFill>
                <a:latin typeface="Calibri"/>
                <a:ea typeface="Calibri"/>
                <a:cs typeface="Calibri"/>
                <a:sym typeface="Calibri"/>
              </a:rPr>
              <a:t>ts</a:t>
            </a:r>
            <a:r>
              <a:rPr b="0" i="0" lang="en" sz="1600" u="none" cap="none" strike="noStrike">
                <a:solidFill>
                  <a:srgbClr val="222222"/>
                </a:solidFill>
                <a:latin typeface="Calibri"/>
                <a:ea typeface="Calibri"/>
                <a:cs typeface="Calibri"/>
                <a:sym typeface="Calibri"/>
              </a:rPr>
              <a:t>, </a:t>
            </a:r>
            <a:r>
              <a:rPr lang="en" sz="1600">
                <a:solidFill>
                  <a:srgbClr val="222222"/>
                </a:solidFill>
                <a:latin typeface="Calibri"/>
                <a:ea typeface="Calibri"/>
                <a:cs typeface="Calibri"/>
                <a:sym typeface="Calibri"/>
              </a:rPr>
              <a:t>starting from </a:t>
            </a:r>
            <a:r>
              <a:rPr b="0" i="0" lang="en" sz="1600" u="none" cap="none" strike="noStrike">
                <a:solidFill>
                  <a:srgbClr val="222222"/>
                </a:solidFill>
                <a:latin typeface="Calibri"/>
                <a:ea typeface="Calibri"/>
                <a:cs typeface="Calibri"/>
                <a:sym typeface="Calibri"/>
              </a:rPr>
              <a:t>5+ days early to 8+ days late</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processing_days (seller</a:t>
            </a:r>
            <a:r>
              <a:rPr lang="en" sz="1600">
                <a:solidFill>
                  <a:srgbClr val="222222"/>
                </a:solidFill>
                <a:latin typeface="Calibri"/>
                <a:ea typeface="Calibri"/>
                <a:cs typeface="Calibri"/>
                <a:sym typeface="Calibri"/>
              </a:rPr>
              <a:t> dependent</a:t>
            </a:r>
            <a:r>
              <a:rPr b="0" i="0" lang="en" sz="1600" u="none" cap="none" strike="noStrike">
                <a:solidFill>
                  <a:srgbClr val="222222"/>
                </a:solidFill>
                <a:latin typeface="Calibri"/>
                <a:ea typeface="Calibri"/>
                <a:cs typeface="Calibri"/>
                <a:sym typeface="Calibri"/>
              </a:rPr>
              <a:t>) vs. transport_days (carrier</a:t>
            </a:r>
            <a:r>
              <a:rPr lang="en" sz="1600">
                <a:solidFill>
                  <a:srgbClr val="222222"/>
                </a:solidFill>
                <a:latin typeface="Calibri"/>
                <a:ea typeface="Calibri"/>
                <a:cs typeface="Calibri"/>
                <a:sym typeface="Calibri"/>
              </a:rPr>
              <a:t> dependent</a:t>
            </a:r>
            <a:r>
              <a:rPr b="0" i="0" lang="en" sz="1600" u="none" cap="none" strike="noStrike">
                <a:solidFill>
                  <a:srgbClr val="222222"/>
                </a:solidFill>
                <a:latin typeface="Calibri"/>
                <a:ea typeface="Calibri"/>
                <a:cs typeface="Calibri"/>
                <a:sym typeface="Calibri"/>
              </a:rPr>
              <a:t>) </a:t>
            </a:r>
            <a:r>
              <a:rPr lang="en" sz="1600">
                <a:solidFill>
                  <a:srgbClr val="222222"/>
                </a:solidFill>
                <a:latin typeface="Calibri"/>
                <a:ea typeface="Calibri"/>
                <a:cs typeface="Calibri"/>
                <a:sym typeface="Calibri"/>
              </a:rPr>
              <a:t>is</a:t>
            </a:r>
            <a:r>
              <a:rPr b="0" i="0" lang="en" sz="1600" u="none" cap="none" strike="noStrike">
                <a:solidFill>
                  <a:srgbClr val="222222"/>
                </a:solidFill>
                <a:latin typeface="Calibri"/>
                <a:ea typeface="Calibri"/>
                <a:cs typeface="Calibri"/>
                <a:sym typeface="Calibri"/>
              </a:rPr>
              <a:t> giving more insig</a:t>
            </a:r>
            <a:r>
              <a:rPr lang="en" sz="1600">
                <a:solidFill>
                  <a:srgbClr val="222222"/>
                </a:solidFill>
                <a:latin typeface="Calibri"/>
                <a:ea typeface="Calibri"/>
                <a:cs typeface="Calibri"/>
                <a:sym typeface="Calibri"/>
              </a:rPr>
              <a:t>hts into the actual reason of the delay which is very useful in explaining the</a:t>
            </a:r>
            <a:r>
              <a:rPr b="0" i="0" lang="en" sz="1600" u="none" cap="none" strike="noStrike">
                <a:solidFill>
                  <a:srgbClr val="222222"/>
                </a:solidFill>
                <a:latin typeface="Calibri"/>
                <a:ea typeface="Calibri"/>
                <a:cs typeface="Calibri"/>
                <a:sym typeface="Calibri"/>
              </a:rPr>
              <a:t> project's central finding</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freight_ratio = freight cost / item price</a:t>
            </a:r>
            <a:r>
              <a:rPr lang="en" sz="1600">
                <a:solidFill>
                  <a:srgbClr val="222222"/>
                </a:solidFill>
                <a:latin typeface="Calibri"/>
                <a:ea typeface="Calibri"/>
                <a:cs typeface="Calibri"/>
                <a:sym typeface="Calibri"/>
              </a:rPr>
              <a:t>, has been calculated as</a:t>
            </a:r>
            <a:r>
              <a:rPr b="0" i="0" lang="en" sz="1600" u="none" cap="none" strike="noStrike">
                <a:solidFill>
                  <a:srgbClr val="222222"/>
                </a:solidFill>
                <a:latin typeface="Calibri"/>
                <a:ea typeface="Calibri"/>
                <a:cs typeface="Calibri"/>
                <a:sym typeface="Calibri"/>
              </a:rPr>
              <a:t> a size</a:t>
            </a:r>
            <a:r>
              <a:rPr lang="en" sz="1600">
                <a:solidFill>
                  <a:srgbClr val="222222"/>
                </a:solidFill>
                <a:latin typeface="Calibri"/>
                <a:ea typeface="Calibri"/>
                <a:cs typeface="Calibri"/>
                <a:sym typeface="Calibri"/>
              </a:rPr>
              <a:t> </a:t>
            </a:r>
            <a:r>
              <a:rPr b="0" i="0" lang="en" sz="1600" u="none" cap="none" strike="noStrike">
                <a:solidFill>
                  <a:srgbClr val="222222"/>
                </a:solidFill>
                <a:latin typeface="Calibri"/>
                <a:ea typeface="Calibri"/>
                <a:cs typeface="Calibri"/>
                <a:sym typeface="Calibri"/>
              </a:rPr>
              <a:t>independent way to compare shipping burden</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seller_low_confidence flag (fewer than 5 orders) </a:t>
            </a:r>
            <a:r>
              <a:rPr lang="en" sz="1600">
                <a:solidFill>
                  <a:srgbClr val="222222"/>
                </a:solidFill>
                <a:latin typeface="Calibri"/>
                <a:ea typeface="Calibri"/>
                <a:cs typeface="Calibri"/>
                <a:sym typeface="Calibri"/>
              </a:rPr>
              <a:t>has been applied and</a:t>
            </a:r>
            <a:r>
              <a:rPr b="0" i="0" lang="en" sz="1600" u="none" cap="none" strike="noStrike">
                <a:solidFill>
                  <a:srgbClr val="222222"/>
                </a:solidFill>
                <a:latin typeface="Calibri"/>
                <a:ea typeface="Calibri"/>
                <a:cs typeface="Calibri"/>
                <a:sym typeface="Calibri"/>
              </a:rPr>
              <a:t> carried through every seller</a:t>
            </a:r>
            <a:r>
              <a:rPr lang="en" sz="1600">
                <a:solidFill>
                  <a:srgbClr val="222222"/>
                </a:solidFill>
                <a:latin typeface="Calibri"/>
                <a:ea typeface="Calibri"/>
                <a:cs typeface="Calibri"/>
                <a:sym typeface="Calibri"/>
              </a:rPr>
              <a:t> </a:t>
            </a:r>
            <a:r>
              <a:rPr b="0" i="0" lang="en" sz="1600" u="none" cap="none" strike="noStrike">
                <a:solidFill>
                  <a:srgbClr val="222222"/>
                </a:solidFill>
                <a:latin typeface="Calibri"/>
                <a:ea typeface="Calibri"/>
                <a:cs typeface="Calibri"/>
                <a:sym typeface="Calibri"/>
              </a:rPr>
              <a:t>level chart in this project</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is_repeat customer flag has been implemented to check the customers coming back</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primary_category (highest</a:t>
            </a:r>
            <a:r>
              <a:rPr lang="en" sz="1600">
                <a:solidFill>
                  <a:srgbClr val="222222"/>
                </a:solidFill>
                <a:latin typeface="Calibri"/>
                <a:ea typeface="Calibri"/>
                <a:cs typeface="Calibri"/>
                <a:sym typeface="Calibri"/>
              </a:rPr>
              <a:t> </a:t>
            </a:r>
            <a:r>
              <a:rPr b="0" i="0" lang="en" sz="1600" u="none" cap="none" strike="noStrike">
                <a:solidFill>
                  <a:srgbClr val="222222"/>
                </a:solidFill>
                <a:latin typeface="Calibri"/>
                <a:ea typeface="Calibri"/>
                <a:cs typeface="Calibri"/>
                <a:sym typeface="Calibri"/>
              </a:rPr>
              <a:t>priced item in a multi</a:t>
            </a:r>
            <a:r>
              <a:rPr lang="en" sz="1600">
                <a:solidFill>
                  <a:srgbClr val="222222"/>
                </a:solidFill>
                <a:latin typeface="Calibri"/>
                <a:ea typeface="Calibri"/>
                <a:cs typeface="Calibri"/>
                <a:sym typeface="Calibri"/>
              </a:rPr>
              <a:t> </a:t>
            </a:r>
            <a:r>
              <a:rPr b="0" i="0" lang="en" sz="1600" u="none" cap="none" strike="noStrike">
                <a:solidFill>
                  <a:srgbClr val="222222"/>
                </a:solidFill>
                <a:latin typeface="Calibri"/>
                <a:ea typeface="Calibri"/>
                <a:cs typeface="Calibri"/>
                <a:sym typeface="Calibri"/>
              </a:rPr>
              <a:t>item order) has also </a:t>
            </a:r>
            <a:r>
              <a:rPr lang="en" sz="1600">
                <a:solidFill>
                  <a:srgbClr val="222222"/>
                </a:solidFill>
                <a:latin typeface="Calibri"/>
                <a:ea typeface="Calibri"/>
                <a:cs typeface="Calibri"/>
                <a:sym typeface="Calibri"/>
              </a:rPr>
              <a:t>been applied to aggregate orders and keep each one tied to one category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20"/>
          <p:cNvSpPr txBox="1"/>
          <p:nvPr/>
        </p:nvSpPr>
        <p:spPr>
          <a:xfrm>
            <a:off x="235045" y="15430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lang="en" sz="2200">
                <a:solidFill>
                  <a:srgbClr val="FFFFFF"/>
                </a:solidFill>
                <a:latin typeface="Calibri"/>
                <a:ea typeface="Calibri"/>
                <a:cs typeface="Calibri"/>
                <a:sym typeface="Calibri"/>
              </a:rPr>
              <a:t>Delivery Performance</a:t>
            </a:r>
            <a:endParaRPr b="0" i="0" sz="2200" u="none" cap="none" strike="noStrike">
              <a:solidFill>
                <a:schemeClr val="dk1"/>
              </a:solidFill>
              <a:latin typeface="Calibri"/>
              <a:ea typeface="Calibri"/>
              <a:cs typeface="Calibri"/>
              <a:sym typeface="Calibri"/>
            </a:endParaRPr>
          </a:p>
        </p:txBody>
      </p:sp>
      <p:pic>
        <p:nvPicPr>
          <p:cNvPr id="108" name="Google Shape;108;p20" title="delay - review chart.png"/>
          <p:cNvPicPr preferRelativeResize="0"/>
          <p:nvPr/>
        </p:nvPicPr>
        <p:blipFill>
          <a:blip r:embed="rId3">
            <a:alphaModFix/>
          </a:blip>
          <a:stretch>
            <a:fillRect/>
          </a:stretch>
        </p:blipFill>
        <p:spPr>
          <a:xfrm>
            <a:off x="342875" y="2000757"/>
            <a:ext cx="4114800" cy="2559297"/>
          </a:xfrm>
          <a:prstGeom prst="rect">
            <a:avLst/>
          </a:prstGeom>
          <a:noFill/>
          <a:ln>
            <a:noFill/>
          </a:ln>
        </p:spPr>
      </p:pic>
      <p:pic>
        <p:nvPicPr>
          <p:cNvPr id="109" name="Google Shape;109;p20" title="order vs seller level.png"/>
          <p:cNvPicPr preferRelativeResize="0"/>
          <p:nvPr/>
        </p:nvPicPr>
        <p:blipFill>
          <a:blip r:embed="rId4">
            <a:alphaModFix/>
          </a:blip>
          <a:stretch>
            <a:fillRect/>
          </a:stretch>
        </p:blipFill>
        <p:spPr>
          <a:xfrm>
            <a:off x="4572000" y="2658541"/>
            <a:ext cx="4183399" cy="1881884"/>
          </a:xfrm>
          <a:prstGeom prst="rect">
            <a:avLst/>
          </a:prstGeom>
          <a:noFill/>
          <a:ln>
            <a:noFill/>
          </a:ln>
        </p:spPr>
      </p:pic>
      <p:sp>
        <p:nvSpPr>
          <p:cNvPr id="110" name="Google Shape;110;p20"/>
          <p:cNvSpPr txBox="1"/>
          <p:nvPr/>
        </p:nvSpPr>
        <p:spPr>
          <a:xfrm>
            <a:off x="342877" y="756254"/>
            <a:ext cx="43149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Review score declines almost monotonically as the delay gets worse</a:t>
            </a:r>
            <a:r>
              <a:rPr lang="en" sz="1200">
                <a:solidFill>
                  <a:srgbClr val="222222"/>
                </a:solidFill>
                <a:latin typeface="Calibri"/>
                <a:ea typeface="Calibri"/>
                <a:cs typeface="Calibri"/>
                <a:sym typeface="Calibri"/>
              </a:rPr>
              <a:t> </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From 4.32 for orders arriving 5+ days early to 1.73 for orders which are 8+ days late, there is 2.6 points collapse on a 5 point scale.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11" name="Google Shape;111;p20"/>
          <p:cNvSpPr txBox="1"/>
          <p:nvPr/>
        </p:nvSpPr>
        <p:spPr>
          <a:xfrm>
            <a:off x="4611215" y="754981"/>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Delay predicts the satisfaction but looking at it by further dividing it,</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Transport time (carrier side) affects more at an individual order level</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Whereas processing time (seller side) shows which sellers are actually reliable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21"/>
          <p:cNvSpPr txBox="1"/>
          <p:nvPr/>
        </p:nvSpPr>
        <p:spPr>
          <a:xfrm>
            <a:off x="274320" y="15435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Growth vs Quality</a:t>
            </a:r>
            <a:endParaRPr b="0" i="0" sz="22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97100" y="4634867"/>
            <a:ext cx="84354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A4A"/>
              </a:buClr>
              <a:buSzPts val="1000"/>
              <a:buFont typeface="Calibri"/>
              <a:buNone/>
            </a:pPr>
            <a:r>
              <a:rPr lang="en" sz="1000">
                <a:solidFill>
                  <a:srgbClr val="1E2A4A"/>
                </a:solidFill>
                <a:latin typeface="Calibri"/>
                <a:ea typeface="Calibri"/>
                <a:cs typeface="Calibri"/>
                <a:sym typeface="Calibri"/>
              </a:rPr>
              <a:t>These two charts shows that pressure of growth did not impact every part of the business the same way and hence it’s the strongest proof for growth vs quality</a:t>
            </a:r>
            <a:endParaRPr b="0" sz="1000" u="none" cap="none" strike="noStrike">
              <a:solidFill>
                <a:schemeClr val="dk1"/>
              </a:solidFill>
              <a:latin typeface="Calibri"/>
              <a:ea typeface="Calibri"/>
              <a:cs typeface="Calibri"/>
              <a:sym typeface="Calibri"/>
            </a:endParaRPr>
          </a:p>
        </p:txBody>
      </p:sp>
      <p:pic>
        <p:nvPicPr>
          <p:cNvPr id="120" name="Google Shape;120;p21" title="growth vs quality time series.png"/>
          <p:cNvPicPr preferRelativeResize="0"/>
          <p:nvPr/>
        </p:nvPicPr>
        <p:blipFill>
          <a:blip r:embed="rId3">
            <a:alphaModFix/>
          </a:blip>
          <a:stretch>
            <a:fillRect/>
          </a:stretch>
        </p:blipFill>
        <p:spPr>
          <a:xfrm>
            <a:off x="342900" y="2172788"/>
            <a:ext cx="4114800" cy="2600594"/>
          </a:xfrm>
          <a:prstGeom prst="rect">
            <a:avLst/>
          </a:prstGeom>
          <a:noFill/>
          <a:ln>
            <a:noFill/>
          </a:ln>
        </p:spPr>
      </p:pic>
      <p:pic>
        <p:nvPicPr>
          <p:cNvPr id="121" name="Google Shape;121;p21" title="funnel efficiency over time.png"/>
          <p:cNvPicPr preferRelativeResize="0"/>
          <p:nvPr/>
        </p:nvPicPr>
        <p:blipFill>
          <a:blip r:embed="rId4">
            <a:alphaModFix/>
          </a:blip>
          <a:stretch>
            <a:fillRect/>
          </a:stretch>
        </p:blipFill>
        <p:spPr>
          <a:xfrm>
            <a:off x="4572000" y="2101954"/>
            <a:ext cx="4183400" cy="2699942"/>
          </a:xfrm>
          <a:prstGeom prst="rect">
            <a:avLst/>
          </a:prstGeom>
          <a:noFill/>
          <a:ln>
            <a:noFill/>
          </a:ln>
        </p:spPr>
      </p:pic>
      <p:sp>
        <p:nvSpPr>
          <p:cNvPr id="122" name="Google Shape;122;p21"/>
          <p:cNvSpPr txBox="1"/>
          <p:nvPr/>
        </p:nvSpPr>
        <p:spPr>
          <a:xfrm>
            <a:off x="342875" y="756250"/>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Order volume has grown mostly steadily across the months but late delivery rate has two major spikes </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November 2017 has 13.8% late rate compared to 5% in surrounding months, possibly due to Black Friday demands</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March 2018 has a bigger spike with the most late rate of 20.7% without any concrete explanation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23" name="Google Shape;123;p21"/>
          <p:cNvSpPr txBox="1"/>
          <p:nvPr/>
        </p:nvSpPr>
        <p:spPr>
          <a:xfrm>
            <a:off x="4611215" y="754981"/>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Monthly conversion rate increased from 1% to 14% even as lead volume grew from a few hundreds to over 1300 per month</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This is opposite from the pattern on the left, which means acquisition got more efficient with scale while delivery operations didn’t stay uniform.</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22"/>
          <p:cNvSpPr txBox="1"/>
          <p:nvPr/>
        </p:nvSpPr>
        <p:spPr>
          <a:xfrm>
            <a:off x="205745" y="15430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Geography &amp; Sellers: Where Risk Concentrates</a:t>
            </a:r>
            <a:endParaRPr b="1" i="0" sz="2200" u="none" cap="none" strike="noStrike">
              <a:solidFill>
                <a:schemeClr val="dk1"/>
              </a:solidFill>
              <a:latin typeface="Calibri"/>
              <a:ea typeface="Calibri"/>
              <a:cs typeface="Calibri"/>
              <a:sym typeface="Calibri"/>
            </a:endParaRPr>
          </a:p>
        </p:txBody>
      </p:sp>
      <p:pic>
        <p:nvPicPr>
          <p:cNvPr id="131" name="Google Shape;131;p22" title="same stat vs cross state.png"/>
          <p:cNvPicPr preferRelativeResize="0"/>
          <p:nvPr/>
        </p:nvPicPr>
        <p:blipFill>
          <a:blip r:embed="rId3">
            <a:alphaModFix/>
          </a:blip>
          <a:stretch>
            <a:fillRect/>
          </a:stretch>
        </p:blipFill>
        <p:spPr>
          <a:xfrm>
            <a:off x="408625" y="2398985"/>
            <a:ext cx="4183399" cy="1881891"/>
          </a:xfrm>
          <a:prstGeom prst="rect">
            <a:avLst/>
          </a:prstGeom>
          <a:noFill/>
          <a:ln>
            <a:noFill/>
          </a:ln>
        </p:spPr>
      </p:pic>
      <p:pic>
        <p:nvPicPr>
          <p:cNvPr id="132" name="Google Shape;132;p22" title="sellers concentration.png"/>
          <p:cNvPicPr preferRelativeResize="0"/>
          <p:nvPr/>
        </p:nvPicPr>
        <p:blipFill>
          <a:blip r:embed="rId4">
            <a:alphaModFix/>
          </a:blip>
          <a:stretch>
            <a:fillRect/>
          </a:stretch>
        </p:blipFill>
        <p:spPr>
          <a:xfrm>
            <a:off x="4747450" y="2040925"/>
            <a:ext cx="3932450" cy="2965426"/>
          </a:xfrm>
          <a:prstGeom prst="rect">
            <a:avLst/>
          </a:prstGeom>
          <a:noFill/>
          <a:ln>
            <a:noFill/>
          </a:ln>
        </p:spPr>
      </p:pic>
      <p:sp>
        <p:nvSpPr>
          <p:cNvPr id="133" name="Google Shape;133;p22"/>
          <p:cNvSpPr txBox="1"/>
          <p:nvPr/>
        </p:nvSpPr>
        <p:spPr>
          <a:xfrm>
            <a:off x="342875" y="756250"/>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Cross state shipping nearly doubles both delivery time and late rate</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Deliveries take almost twice as long (15.1 vs 7.9 days)</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And they are also more likely to be late (9.3% vs 6.1%)</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This is an expected direction since distance takes time, and this confirms that it is there in this dataset as well.</a:t>
            </a:r>
            <a:endParaRPr sz="12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34" name="Google Shape;134;p22"/>
          <p:cNvSpPr txBox="1"/>
          <p:nvPr/>
        </p:nvSpPr>
        <p:spPr>
          <a:xfrm>
            <a:off x="4611215" y="754981"/>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The top 10% sellers by volume account for 68% orders which is very far from an even spread</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A strong indicator to support high volume sellers with better tools and priority carrier management rather than going with broad uniform policies for all the sellers.</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23"/>
          <p:cNvSpPr txBox="1"/>
          <p:nvPr/>
        </p:nvSpPr>
        <p:spPr>
          <a:xfrm>
            <a:off x="285745" y="15430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Category &amp; Economics</a:t>
            </a:r>
            <a:endParaRPr b="0" i="0" sz="2200" u="none" cap="none" strike="noStrike">
              <a:solidFill>
                <a:schemeClr val="dk1"/>
              </a:solidFill>
              <a:latin typeface="Calibri"/>
              <a:ea typeface="Calibri"/>
              <a:cs typeface="Calibri"/>
              <a:sym typeface="Calibri"/>
            </a:endParaRPr>
          </a:p>
        </p:txBody>
      </p:sp>
      <p:pic>
        <p:nvPicPr>
          <p:cNvPr id="142" name="Google Shape;142;p23" title="Review score distribution by category.png"/>
          <p:cNvPicPr preferRelativeResize="0"/>
          <p:nvPr/>
        </p:nvPicPr>
        <p:blipFill>
          <a:blip r:embed="rId3">
            <a:alphaModFix/>
          </a:blip>
          <a:stretch>
            <a:fillRect/>
          </a:stretch>
        </p:blipFill>
        <p:spPr>
          <a:xfrm>
            <a:off x="333850" y="2249624"/>
            <a:ext cx="4114801" cy="2556400"/>
          </a:xfrm>
          <a:prstGeom prst="rect">
            <a:avLst/>
          </a:prstGeom>
          <a:noFill/>
          <a:ln>
            <a:noFill/>
          </a:ln>
        </p:spPr>
      </p:pic>
      <p:pic>
        <p:nvPicPr>
          <p:cNvPr id="143" name="Google Shape;143;p23" title="Shrinking categories.png"/>
          <p:cNvPicPr preferRelativeResize="0"/>
          <p:nvPr/>
        </p:nvPicPr>
        <p:blipFill>
          <a:blip r:embed="rId4">
            <a:alphaModFix/>
          </a:blip>
          <a:stretch>
            <a:fillRect/>
          </a:stretch>
        </p:blipFill>
        <p:spPr>
          <a:xfrm>
            <a:off x="4594850" y="2925770"/>
            <a:ext cx="4390401" cy="1880250"/>
          </a:xfrm>
          <a:prstGeom prst="rect">
            <a:avLst/>
          </a:prstGeom>
          <a:noFill/>
          <a:ln>
            <a:noFill/>
          </a:ln>
        </p:spPr>
      </p:pic>
      <p:sp>
        <p:nvSpPr>
          <p:cNvPr id="144" name="Google Shape;144;p23"/>
          <p:cNvSpPr txBox="1"/>
          <p:nvPr/>
        </p:nvSpPr>
        <p:spPr>
          <a:xfrm>
            <a:off x="342875" y="855685"/>
            <a:ext cx="4314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Every category has the same bimodal shape with taller 5 star bar and smaller 1 star bar and very thin middle</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It shows that the categories doesn’t really change how people rate.</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Which tells us that categories themselves have a smaller contribution to the driving factor of the ratings.</a:t>
            </a:r>
            <a:endParaRPr sz="12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45" name="Google Shape;145;p23"/>
          <p:cNvSpPr txBox="1"/>
          <p:nvPr/>
        </p:nvSpPr>
        <p:spPr>
          <a:xfrm>
            <a:off x="4611215" y="854416"/>
            <a:ext cx="4314900" cy="270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a:t>
            </a:r>
            <a:r>
              <a:rPr lang="en" sz="1200">
                <a:solidFill>
                  <a:srgbClr val="222222"/>
                </a:solidFill>
                <a:latin typeface="Calibri"/>
                <a:ea typeface="Calibri"/>
                <a:cs typeface="Calibri"/>
                <a:sym typeface="Calibri"/>
              </a:rPr>
              <a:t>These three categories are shrinking even when the marketplace has grown overall</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All three show a visibly lower average after 2018 boundary than before it.</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This is not about delivery quality or cancellations but about the demand shrinking in these specific categories even with the marketplace as whole growing.</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So the demand or growth is not reaching here rather than a satisfaction risk.</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24"/>
          <p:cNvSpPr txBox="1"/>
          <p:nvPr/>
        </p:nvSpPr>
        <p:spPr>
          <a:xfrm>
            <a:off x="285745" y="15430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Customer Behavior</a:t>
            </a:r>
            <a:endParaRPr b="0" i="0" sz="2200" u="none" cap="none" strike="noStrike">
              <a:solidFill>
                <a:schemeClr val="dk1"/>
              </a:solidFill>
              <a:latin typeface="Calibri"/>
              <a:ea typeface="Calibri"/>
              <a:cs typeface="Calibri"/>
              <a:sym typeface="Calibri"/>
            </a:endParaRPr>
          </a:p>
        </p:txBody>
      </p:sp>
      <p:pic>
        <p:nvPicPr>
          <p:cNvPr id="153" name="Google Shape;153;p24" title="Comment presence.png"/>
          <p:cNvPicPr preferRelativeResize="0"/>
          <p:nvPr/>
        </p:nvPicPr>
        <p:blipFill>
          <a:blip r:embed="rId3">
            <a:alphaModFix/>
          </a:blip>
          <a:stretch>
            <a:fillRect/>
          </a:stretch>
        </p:blipFill>
        <p:spPr>
          <a:xfrm>
            <a:off x="252505" y="1972496"/>
            <a:ext cx="4114800" cy="3061519"/>
          </a:xfrm>
          <a:prstGeom prst="rect">
            <a:avLst/>
          </a:prstGeom>
          <a:noFill/>
          <a:ln>
            <a:noFill/>
          </a:ln>
        </p:spPr>
      </p:pic>
      <p:pic>
        <p:nvPicPr>
          <p:cNvPr id="154" name="Google Shape;154;p24" title="Length of comment.png"/>
          <p:cNvPicPr preferRelativeResize="0"/>
          <p:nvPr/>
        </p:nvPicPr>
        <p:blipFill>
          <a:blip r:embed="rId4">
            <a:alphaModFix/>
          </a:blip>
          <a:stretch>
            <a:fillRect/>
          </a:stretch>
        </p:blipFill>
        <p:spPr>
          <a:xfrm>
            <a:off x="4481605" y="2271812"/>
            <a:ext cx="4433875" cy="2824475"/>
          </a:xfrm>
          <a:prstGeom prst="rect">
            <a:avLst/>
          </a:prstGeom>
          <a:noFill/>
          <a:ln>
            <a:noFill/>
          </a:ln>
        </p:spPr>
      </p:pic>
      <p:sp>
        <p:nvSpPr>
          <p:cNvPr id="155" name="Google Shape;155;p24"/>
          <p:cNvSpPr txBox="1"/>
          <p:nvPr/>
        </p:nvSpPr>
        <p:spPr>
          <a:xfrm>
            <a:off x="342875" y="801448"/>
            <a:ext cx="43149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Order reviews with comment has an average review score 3.81 whereas the ones having no comments on average has 4.41</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This shows a strong dissatisfaction rate for the orders having a comment even without knowing what they have actually written.</a:t>
            </a:r>
            <a:endParaRPr sz="12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56" name="Google Shape;156;p24"/>
          <p:cNvSpPr txBox="1"/>
          <p:nvPr/>
        </p:nvSpPr>
        <p:spPr>
          <a:xfrm>
            <a:off x="4611215" y="800179"/>
            <a:ext cx="43149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1 star comments has 77 characters on average which is 4 times more than 19 characters of 5 star comments and the relationship is cleanly monotonic for all five scores.</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So it’s not just whether a customer leaves a comment but how much they write directly scales with more </a:t>
            </a:r>
            <a:r>
              <a:rPr lang="en" sz="1200">
                <a:solidFill>
                  <a:srgbClr val="222222"/>
                </a:solidFill>
                <a:latin typeface="Calibri"/>
                <a:ea typeface="Calibri"/>
                <a:cs typeface="Calibri"/>
                <a:sym typeface="Calibri"/>
              </a:rPr>
              <a:t>dissatisfaction</a:t>
            </a:r>
            <a:r>
              <a:rPr lang="en" sz="1200">
                <a:solidFill>
                  <a:srgbClr val="222222"/>
                </a:solidFill>
                <a:latin typeface="Calibri"/>
                <a:ea typeface="Calibri"/>
                <a:cs typeface="Calibri"/>
                <a:sym typeface="Calibri"/>
              </a:rPr>
              <a:t>.</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5"/>
          <p:cNvSpPr txBox="1"/>
          <p:nvPr/>
        </p:nvSpPr>
        <p:spPr>
          <a:xfrm>
            <a:off x="238162" y="136533"/>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Acquisition Funnel</a:t>
            </a:r>
            <a:endParaRPr b="0" i="0" sz="2200" u="none" cap="none" strike="noStrike">
              <a:solidFill>
                <a:schemeClr val="dk1"/>
              </a:solidFill>
              <a:latin typeface="Calibri"/>
              <a:ea typeface="Calibri"/>
              <a:cs typeface="Calibri"/>
              <a:sym typeface="Calibri"/>
            </a:endParaRPr>
          </a:p>
        </p:txBody>
      </p:sp>
      <p:pic>
        <p:nvPicPr>
          <p:cNvPr id="164" name="Google Shape;164;p25" title="Conversion rate by channel.png"/>
          <p:cNvPicPr preferRelativeResize="0"/>
          <p:nvPr/>
        </p:nvPicPr>
        <p:blipFill>
          <a:blip r:embed="rId3">
            <a:alphaModFix/>
          </a:blip>
          <a:stretch>
            <a:fillRect/>
          </a:stretch>
        </p:blipFill>
        <p:spPr>
          <a:xfrm>
            <a:off x="342900" y="2458666"/>
            <a:ext cx="4114800" cy="2486517"/>
          </a:xfrm>
          <a:prstGeom prst="rect">
            <a:avLst/>
          </a:prstGeom>
          <a:noFill/>
          <a:ln>
            <a:noFill/>
          </a:ln>
        </p:spPr>
      </p:pic>
      <p:pic>
        <p:nvPicPr>
          <p:cNvPr id="165" name="Google Shape;165;p25" title="Declared lead type vs performance.png"/>
          <p:cNvPicPr preferRelativeResize="0"/>
          <p:nvPr/>
        </p:nvPicPr>
        <p:blipFill>
          <a:blip r:embed="rId4">
            <a:alphaModFix/>
          </a:blip>
          <a:stretch>
            <a:fillRect/>
          </a:stretch>
        </p:blipFill>
        <p:spPr>
          <a:xfrm>
            <a:off x="4594844" y="2359231"/>
            <a:ext cx="4183401" cy="2588712"/>
          </a:xfrm>
          <a:prstGeom prst="rect">
            <a:avLst/>
          </a:prstGeom>
          <a:noFill/>
          <a:ln>
            <a:noFill/>
          </a:ln>
        </p:spPr>
      </p:pic>
      <p:sp>
        <p:nvSpPr>
          <p:cNvPr id="166" name="Google Shape;166;p25"/>
          <p:cNvSpPr txBox="1"/>
          <p:nvPr/>
        </p:nvSpPr>
        <p:spPr>
          <a:xfrm>
            <a:off x="342875" y="801448"/>
            <a:ext cx="43149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Overall conversion rate is around 10% but the origin of the lead matters.</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Paid search and Organic search convert above average while email and other are performing worst despite a </a:t>
            </a:r>
            <a:r>
              <a:rPr lang="en" sz="1200">
                <a:solidFill>
                  <a:srgbClr val="222222"/>
                </a:solidFill>
                <a:latin typeface="Calibri"/>
                <a:ea typeface="Calibri"/>
                <a:cs typeface="Calibri"/>
                <a:sym typeface="Calibri"/>
              </a:rPr>
              <a:t>reasonable</a:t>
            </a:r>
            <a:r>
              <a:rPr lang="en" sz="1200">
                <a:solidFill>
                  <a:srgbClr val="222222"/>
                </a:solidFill>
                <a:latin typeface="Calibri"/>
                <a:ea typeface="Calibri"/>
                <a:cs typeface="Calibri"/>
                <a:sym typeface="Calibri"/>
              </a:rPr>
              <a:t> lead volume</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High rate for unknown is worth checking since it shows a tracking gap for the highest conversion rate of any origin</a:t>
            </a:r>
            <a:endParaRPr sz="12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
        <p:nvSpPr>
          <p:cNvPr id="167" name="Google Shape;167;p25"/>
          <p:cNvSpPr txBox="1"/>
          <p:nvPr/>
        </p:nvSpPr>
        <p:spPr>
          <a:xfrm>
            <a:off x="4611215" y="800179"/>
            <a:ext cx="43149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222222"/>
                </a:solidFill>
                <a:latin typeface="Calibri"/>
                <a:ea typeface="Calibri"/>
                <a:cs typeface="Calibri"/>
                <a:sym typeface="Calibri"/>
              </a:rPr>
              <a:t>Finding:</a:t>
            </a:r>
            <a:r>
              <a:rPr lang="en" sz="1200">
                <a:solidFill>
                  <a:srgbClr val="222222"/>
                </a:solidFill>
                <a:latin typeface="Calibri"/>
                <a:ea typeface="Calibri"/>
                <a:cs typeface="Calibri"/>
                <a:sym typeface="Calibri"/>
              </a:rPr>
              <a:t> The business type of a lead has a fairly clear gradient showing the seller reliability</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Online top has the lowest % but only 6 sellers so it is too small to rely on heavily</a:t>
            </a:r>
            <a:endParaRPr sz="1200">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But i</a:t>
            </a:r>
            <a:r>
              <a:rPr lang="en" sz="1200">
                <a:solidFill>
                  <a:srgbClr val="222222"/>
                </a:solidFill>
                <a:latin typeface="Calibri"/>
                <a:ea typeface="Calibri"/>
                <a:cs typeface="Calibri"/>
                <a:sym typeface="Calibri"/>
              </a:rPr>
              <a:t>ndustry with 2.8% is outperforming online medium and offline which are 8 to 9 %, with reasonable sellers</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rgbClr val="222222"/>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6"/>
          <p:cNvSpPr txBox="1"/>
          <p:nvPr/>
        </p:nvSpPr>
        <p:spPr>
          <a:xfrm>
            <a:off x="240020" y="147451"/>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i="0" lang="en" sz="2200" u="none" cap="none" strike="noStrike">
                <a:solidFill>
                  <a:srgbClr val="FFFFFF"/>
                </a:solidFill>
                <a:latin typeface="Calibri"/>
                <a:ea typeface="Calibri"/>
                <a:cs typeface="Calibri"/>
                <a:sym typeface="Calibri"/>
              </a:rPr>
              <a:t>Dashboard Walkthrough</a:t>
            </a:r>
            <a:endParaRPr b="0" i="0" sz="2200" u="none" cap="none" strike="noStrike">
              <a:solidFill>
                <a:schemeClr val="dk1"/>
              </a:solidFill>
              <a:latin typeface="Calibri"/>
              <a:ea typeface="Calibri"/>
              <a:cs typeface="Calibri"/>
              <a:sym typeface="Calibri"/>
            </a:endParaRPr>
          </a:p>
        </p:txBody>
      </p:sp>
      <p:sp>
        <p:nvSpPr>
          <p:cNvPr id="175" name="Google Shape;175;p26"/>
          <p:cNvSpPr txBox="1"/>
          <p:nvPr/>
        </p:nvSpPr>
        <p:spPr>
          <a:xfrm>
            <a:off x="411475" y="1296455"/>
            <a:ext cx="8229600" cy="2804400"/>
          </a:xfrm>
          <a:prstGeom prst="rect">
            <a:avLst/>
          </a:prstGeom>
          <a:noFill/>
          <a:ln>
            <a:noFill/>
          </a:ln>
        </p:spPr>
        <p:txBody>
          <a:bodyPr anchorCtr="0" anchor="t" bIns="34275" lIns="68575" spcFirstLastPara="1" rIns="68575" wrap="square" tIns="34275">
            <a:noAutofit/>
          </a:bodyPr>
          <a:lstStyle/>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The interactive dashboard has been built using </a:t>
            </a:r>
            <a:r>
              <a:rPr b="0" i="0" lang="en" sz="1600" u="none" cap="none" strike="noStrike">
                <a:solidFill>
                  <a:srgbClr val="222222"/>
                </a:solidFill>
                <a:latin typeface="Calibri"/>
                <a:ea typeface="Calibri"/>
                <a:cs typeface="Calibri"/>
                <a:sym typeface="Calibri"/>
              </a:rPr>
              <a:t>Streamlit</a:t>
            </a:r>
            <a:r>
              <a:rPr lang="en" sz="1600">
                <a:solidFill>
                  <a:srgbClr val="222222"/>
                </a:solidFill>
                <a:latin typeface="Calibri"/>
                <a:ea typeface="Calibri"/>
                <a:cs typeface="Calibri"/>
                <a:sym typeface="Calibri"/>
              </a:rPr>
              <a:t>, including all</a:t>
            </a:r>
            <a:r>
              <a:rPr b="0" i="0" lang="en" sz="1600" u="none" cap="none" strike="noStrike">
                <a:solidFill>
                  <a:srgbClr val="222222"/>
                </a:solidFill>
                <a:latin typeface="Calibri"/>
                <a:ea typeface="Calibri"/>
                <a:cs typeface="Calibri"/>
                <a:sym typeface="Calibri"/>
              </a:rPr>
              <a:t> th</a:t>
            </a:r>
            <a:r>
              <a:rPr lang="en" sz="1600">
                <a:solidFill>
                  <a:srgbClr val="222222"/>
                </a:solidFill>
                <a:latin typeface="Calibri"/>
                <a:ea typeface="Calibri"/>
                <a:cs typeface="Calibri"/>
                <a:sym typeface="Calibri"/>
              </a:rPr>
              <a:t>e charts displayed here and some other interesting charts in each category.</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The dashboard has total six pages including the home page for the overview and central findings along with five other pages for each of the categories.</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It has five filters as well:</a:t>
            </a:r>
            <a:r>
              <a:rPr b="0" i="0" lang="en" sz="1600" u="none" cap="none" strike="noStrike">
                <a:solidFill>
                  <a:srgbClr val="222222"/>
                </a:solidFill>
                <a:latin typeface="Calibri"/>
                <a:ea typeface="Calibri"/>
                <a:cs typeface="Calibri"/>
                <a:sym typeface="Calibri"/>
              </a:rPr>
              <a:t> product category, customer state, seller state, seller size, and delivery performance</a:t>
            </a:r>
            <a:r>
              <a:rPr lang="en" sz="1600">
                <a:solidFill>
                  <a:srgbClr val="22222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b="0" i="0" lang="en" sz="1600" u="none" cap="none" strike="noStrike">
                <a:solidFill>
                  <a:srgbClr val="222222"/>
                </a:solidFill>
                <a:latin typeface="Calibri"/>
                <a:ea typeface="Calibri"/>
                <a:cs typeface="Calibri"/>
                <a:sym typeface="Calibri"/>
              </a:rPr>
              <a:t>Every metric (</a:t>
            </a:r>
            <a:r>
              <a:rPr lang="en" sz="1600">
                <a:solidFill>
                  <a:srgbClr val="222222"/>
                </a:solidFill>
                <a:latin typeface="Calibri"/>
                <a:ea typeface="Calibri"/>
                <a:cs typeface="Calibri"/>
                <a:sym typeface="Calibri"/>
              </a:rPr>
              <a:t>like </a:t>
            </a:r>
            <a:r>
              <a:rPr b="0" i="0" lang="en" sz="1600" u="none" cap="none" strike="noStrike">
                <a:solidFill>
                  <a:srgbClr val="222222"/>
                </a:solidFill>
                <a:latin typeface="Calibri"/>
                <a:ea typeface="Calibri"/>
                <a:cs typeface="Calibri"/>
                <a:sym typeface="Calibri"/>
              </a:rPr>
              <a:t>rate or average) shown </a:t>
            </a:r>
            <a:r>
              <a:rPr lang="en" sz="1600">
                <a:solidFill>
                  <a:srgbClr val="222222"/>
                </a:solidFill>
                <a:latin typeface="Calibri"/>
                <a:ea typeface="Calibri"/>
                <a:cs typeface="Calibri"/>
                <a:sym typeface="Calibri"/>
              </a:rPr>
              <a:t>displays</a:t>
            </a:r>
            <a:r>
              <a:rPr b="0" i="0" lang="en" sz="1600" u="none" cap="none" strike="noStrike">
                <a:solidFill>
                  <a:srgbClr val="222222"/>
                </a:solidFill>
                <a:latin typeface="Calibri"/>
                <a:ea typeface="Calibri"/>
                <a:cs typeface="Calibri"/>
                <a:sym typeface="Calibri"/>
              </a:rPr>
              <a:t> its sample size</a:t>
            </a:r>
            <a:r>
              <a:rPr lang="en" sz="1600">
                <a:solidFill>
                  <a:srgbClr val="222222"/>
                </a:solidFill>
                <a:latin typeface="Calibri"/>
                <a:ea typeface="Calibri"/>
                <a:cs typeface="Calibri"/>
                <a:sym typeface="Calibri"/>
              </a:rPr>
              <a:t> and</a:t>
            </a:r>
            <a:r>
              <a:rPr b="0" i="0" lang="en" sz="1600" u="none" cap="none" strike="noStrike">
                <a:solidFill>
                  <a:srgbClr val="222222"/>
                </a:solidFill>
                <a:latin typeface="Calibri"/>
                <a:ea typeface="Calibri"/>
                <a:cs typeface="Calibri"/>
                <a:sym typeface="Calibri"/>
              </a:rPr>
              <a:t> segments below a safe threshold are explicitly flagged rather than shown with false confidence.</a:t>
            </a:r>
            <a:endParaRPr b="0" i="0" sz="1600" u="none" cap="none" strike="noStrike">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You can hover over any metric or a chart component to see what they represent along with the actual number.</a:t>
            </a:r>
            <a:endParaRPr sz="1600">
              <a:solidFill>
                <a:srgbClr val="222222"/>
              </a:solidFill>
              <a:latin typeface="Calibri"/>
              <a:ea typeface="Calibri"/>
              <a:cs typeface="Calibri"/>
              <a:sym typeface="Calibri"/>
            </a:endParaRPr>
          </a:p>
          <a:p>
            <a:pPr indent="-330200" lvl="0" marL="457200" marR="0" rtl="0" algn="l">
              <a:lnSpc>
                <a:spcPct val="115000"/>
              </a:lnSpc>
              <a:spcBef>
                <a:spcPts val="0"/>
              </a:spcBef>
              <a:spcAft>
                <a:spcPts val="0"/>
              </a:spcAft>
              <a:buClr>
                <a:srgbClr val="222222"/>
              </a:buClr>
              <a:buSzPts val="1600"/>
              <a:buFont typeface="Calibri"/>
              <a:buChar char="●"/>
            </a:pPr>
            <a:r>
              <a:rPr lang="en" sz="1600">
                <a:solidFill>
                  <a:srgbClr val="222222"/>
                </a:solidFill>
                <a:latin typeface="Calibri"/>
                <a:ea typeface="Calibri"/>
                <a:cs typeface="Calibri"/>
                <a:sym typeface="Calibri"/>
              </a:rPr>
              <a:t>The reset filters clears all the filters applied and shows the original charts once again.</a:t>
            </a:r>
            <a:endParaRPr sz="1600">
              <a:solidFill>
                <a:srgbClr val="222222"/>
              </a:solidFill>
              <a:latin typeface="Calibri"/>
              <a:ea typeface="Calibri"/>
              <a:cs typeface="Calibri"/>
              <a:sym typeface="Calibri"/>
            </a:endParaRPr>
          </a:p>
        </p:txBody>
      </p:sp>
      <p:sp>
        <p:nvSpPr>
          <p:cNvPr id="176" name="Google Shape;176;p26"/>
          <p:cNvSpPr txBox="1"/>
          <p:nvPr/>
        </p:nvSpPr>
        <p:spPr>
          <a:xfrm>
            <a:off x="411475" y="947558"/>
            <a:ext cx="1120500" cy="348900"/>
          </a:xfrm>
          <a:prstGeom prst="rect">
            <a:avLst/>
          </a:prstGeom>
          <a:noFill/>
          <a:ln>
            <a:noFill/>
          </a:ln>
        </p:spPr>
        <p:txBody>
          <a:bodyPr anchorCtr="0" anchor="t" bIns="34275" lIns="68575" spcFirstLastPara="1" rIns="68575" wrap="square" tIns="34275">
            <a:noAutofit/>
          </a:bodyPr>
          <a:lstStyle/>
          <a:p>
            <a:pPr indent="0" lvl="0" marL="0" marR="0" rtl="0" algn="l">
              <a:spcBef>
                <a:spcPts val="800"/>
              </a:spcBef>
              <a:spcAft>
                <a:spcPts val="0"/>
              </a:spcAft>
              <a:buNone/>
            </a:pPr>
            <a:r>
              <a:rPr b="1" lang="en" sz="1600">
                <a:solidFill>
                  <a:schemeClr val="dk1"/>
                </a:solidFill>
                <a:latin typeface="Calibri"/>
                <a:ea typeface="Calibri"/>
                <a:cs typeface="Calibri"/>
                <a:sym typeface="Calibri"/>
              </a:rPr>
              <a:t>Overview:</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27"/>
          <p:cNvSpPr txBox="1"/>
          <p:nvPr/>
        </p:nvSpPr>
        <p:spPr>
          <a:xfrm>
            <a:off x="148345" y="147488"/>
            <a:ext cx="8572500" cy="425100"/>
          </a:xfrm>
          <a:prstGeom prst="rect">
            <a:avLst/>
          </a:prstGeom>
          <a:noFill/>
          <a:ln>
            <a:noFill/>
          </a:ln>
        </p:spPr>
        <p:txBody>
          <a:bodyPr anchorCtr="0" anchor="ctr" bIns="34275" lIns="68575" spcFirstLastPara="1" rIns="68575" wrap="square" tIns="34275">
            <a:noAutofit/>
          </a:bodyPr>
          <a:lstStyle/>
          <a:p>
            <a:pPr indent="0" lvl="0" marL="0" rtl="0" algn="l">
              <a:spcBef>
                <a:spcPts val="800"/>
              </a:spcBef>
              <a:spcAft>
                <a:spcPts val="0"/>
              </a:spcAft>
              <a:buClr>
                <a:schemeClr val="dk1"/>
              </a:buClr>
              <a:buSzPts val="1100"/>
              <a:buFont typeface="Arial"/>
              <a:buNone/>
            </a:pPr>
            <a:r>
              <a:rPr b="1" lang="en" sz="2200">
                <a:solidFill>
                  <a:schemeClr val="lt1"/>
                </a:solidFill>
                <a:latin typeface="Calibri"/>
                <a:ea typeface="Calibri"/>
                <a:cs typeface="Calibri"/>
                <a:sym typeface="Calibri"/>
              </a:rPr>
              <a:t>Some interesting findings</a:t>
            </a:r>
            <a:endParaRPr b="0" i="0" sz="2200" u="none" cap="none" strike="noStrike">
              <a:solidFill>
                <a:schemeClr val="lt1"/>
              </a:solidFill>
              <a:latin typeface="Calibri"/>
              <a:ea typeface="Calibri"/>
              <a:cs typeface="Calibri"/>
              <a:sym typeface="Calibri"/>
            </a:endParaRPr>
          </a:p>
        </p:txBody>
      </p:sp>
      <p:sp>
        <p:nvSpPr>
          <p:cNvPr id="184" name="Google Shape;184;p27"/>
          <p:cNvSpPr txBox="1"/>
          <p:nvPr/>
        </p:nvSpPr>
        <p:spPr>
          <a:xfrm>
            <a:off x="429559" y="4641626"/>
            <a:ext cx="82296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900"/>
              <a:buFont typeface="Calibri"/>
              <a:buNone/>
            </a:pPr>
            <a:r>
              <a:rPr lang="en" sz="1000">
                <a:solidFill>
                  <a:schemeClr val="dk1"/>
                </a:solidFill>
                <a:latin typeface="Calibri"/>
                <a:ea typeface="Calibri"/>
                <a:cs typeface="Calibri"/>
                <a:sym typeface="Calibri"/>
              </a:rPr>
              <a:t>Note : Some of these </a:t>
            </a:r>
            <a:r>
              <a:rPr b="0" lang="en" sz="1000" u="none" cap="none" strike="noStrike">
                <a:solidFill>
                  <a:schemeClr val="dk1"/>
                </a:solidFill>
                <a:latin typeface="Calibri"/>
                <a:ea typeface="Calibri"/>
                <a:cs typeface="Calibri"/>
                <a:sym typeface="Calibri"/>
              </a:rPr>
              <a:t>carry smaller samples and more speculative mechanisms </a:t>
            </a:r>
            <a:r>
              <a:rPr lang="en" sz="1000">
                <a:solidFill>
                  <a:schemeClr val="dk1"/>
                </a:solidFill>
                <a:latin typeface="Calibri"/>
                <a:ea typeface="Calibri"/>
                <a:cs typeface="Calibri"/>
                <a:sym typeface="Calibri"/>
              </a:rPr>
              <a:t>which are </a:t>
            </a:r>
            <a:r>
              <a:rPr b="0" lang="en" sz="1000" u="none" cap="none" strike="noStrike">
                <a:solidFill>
                  <a:schemeClr val="dk1"/>
                </a:solidFill>
                <a:latin typeface="Calibri"/>
                <a:ea typeface="Calibri"/>
                <a:cs typeface="Calibri"/>
                <a:sym typeface="Calibri"/>
              </a:rPr>
              <a:t>presented with their caveats intact, not a</a:t>
            </a:r>
            <a:r>
              <a:rPr lang="en" sz="1000">
                <a:solidFill>
                  <a:schemeClr val="dk1"/>
                </a:solidFill>
                <a:latin typeface="Calibri"/>
                <a:ea typeface="Calibri"/>
                <a:cs typeface="Calibri"/>
                <a:sym typeface="Calibri"/>
              </a:rPr>
              <a:t>s solid final </a:t>
            </a:r>
            <a:r>
              <a:rPr b="0" lang="en" sz="1000" u="none" cap="none" strike="noStrike">
                <a:solidFill>
                  <a:schemeClr val="dk1"/>
                </a:solidFill>
                <a:latin typeface="Calibri"/>
                <a:ea typeface="Calibri"/>
                <a:cs typeface="Calibri"/>
                <a:sym typeface="Calibri"/>
              </a:rPr>
              <a:t>conclusions.</a:t>
            </a:r>
            <a:endParaRPr b="0" sz="1000" u="none" cap="none" strike="noStrike">
              <a:solidFill>
                <a:schemeClr val="dk1"/>
              </a:solidFill>
              <a:latin typeface="Calibri"/>
              <a:ea typeface="Calibri"/>
              <a:cs typeface="Calibri"/>
              <a:sym typeface="Calibri"/>
            </a:endParaRPr>
          </a:p>
        </p:txBody>
      </p:sp>
      <p:sp>
        <p:nvSpPr>
          <p:cNvPr id="185" name="Google Shape;185;p27"/>
          <p:cNvSpPr txBox="1"/>
          <p:nvPr/>
        </p:nvSpPr>
        <p:spPr>
          <a:xfrm>
            <a:off x="301721" y="740889"/>
            <a:ext cx="8229600" cy="36945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0"/>
              </a:spcBef>
              <a:spcAft>
                <a:spcPts val="0"/>
              </a:spcAft>
              <a:buClr>
                <a:srgbClr val="222222"/>
              </a:buClr>
              <a:buSzPts val="1400"/>
              <a:buFont typeface="Calibri"/>
              <a:buChar char="●"/>
            </a:pPr>
            <a:r>
              <a:rPr lang="en">
                <a:solidFill>
                  <a:srgbClr val="222222"/>
                </a:solidFill>
                <a:latin typeface="Calibri"/>
                <a:ea typeface="Calibri"/>
                <a:cs typeface="Calibri"/>
                <a:sym typeface="Calibri"/>
              </a:rPr>
              <a:t>No holiday tolerance effect, in fact customers are slightly less forgiving of delay in Nov 17 - Jan 18.</a:t>
            </a:r>
            <a:endParaRPr>
              <a:solidFill>
                <a:schemeClr val="dk1"/>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An early delivery ceiling effect, as satisfaction peaks at 15 to 21 days early, then goes down again.</a:t>
            </a:r>
            <a:endParaRPr>
              <a:solidFill>
                <a:schemeClr val="dk1"/>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Some categories (toys/health/sports) punish delay harder than others (furniture/housewares) which likely shows that planned or expensive orders are okay with delay somewhat more than the ones bought on impulse or the ones that require a quick delivery. For example toys for birthday presents or some health or sports gear that one needs urgently.</a:t>
            </a:r>
            <a:endParaRPr>
              <a:solidFill>
                <a:schemeClr val="dk1"/>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Loyal customer shows patience for big delays, not small slips since the repeat customers score worse at 1 to 3 days late, but better at 8+ days late.</a:t>
            </a:r>
            <a:endParaRPr>
              <a:solidFill>
                <a:srgbClr val="222222"/>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Only 6.3% of customers ever place a second order, with most of the returning customers stopping at 2 orders.</a:t>
            </a:r>
            <a:endParaRPr>
              <a:solidFill>
                <a:schemeClr val="dk1"/>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An unlabeled internal tag (lead_behaviour_profile) correlates with real outcomes although how it works or what it means is unknown from the given dataset.</a:t>
            </a:r>
            <a:endParaRPr>
              <a:solidFill>
                <a:srgbClr val="222222"/>
              </a:solidFill>
              <a:latin typeface="Calibri"/>
              <a:ea typeface="Calibri"/>
              <a:cs typeface="Calibri"/>
              <a:sym typeface="Calibri"/>
            </a:endParaRPr>
          </a:p>
          <a:p>
            <a:pPr indent="-317500" lvl="0" marL="457200" rtl="0" algn="l">
              <a:lnSpc>
                <a:spcPct val="115000"/>
              </a:lnSpc>
              <a:spcBef>
                <a:spcPts val="800"/>
              </a:spcBef>
              <a:spcAft>
                <a:spcPts val="0"/>
              </a:spcAft>
              <a:buClr>
                <a:srgbClr val="222222"/>
              </a:buClr>
              <a:buSzPts val="1400"/>
              <a:buFont typeface="Calibri"/>
              <a:buChar char="●"/>
            </a:pPr>
            <a:r>
              <a:rPr lang="en">
                <a:solidFill>
                  <a:srgbClr val="222222"/>
                </a:solidFill>
                <a:latin typeface="Calibri"/>
                <a:ea typeface="Calibri"/>
                <a:cs typeface="Calibri"/>
                <a:sym typeface="Calibri"/>
              </a:rPr>
              <a:t>A small number of sales representatives have closed a large number of deals with the top one closing 122 deals among the total of 842 converted leads.</a:t>
            </a:r>
            <a:endParaRPr>
              <a:solidFill>
                <a:srgbClr val="22222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p:nvPr/>
        </p:nvSpPr>
        <p:spPr>
          <a:xfrm>
            <a:off x="0" y="0"/>
            <a:ext cx="9141714" cy="68580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8"/>
          <p:cNvSpPr txBox="1"/>
          <p:nvPr/>
        </p:nvSpPr>
        <p:spPr>
          <a:xfrm>
            <a:off x="240020" y="154309"/>
            <a:ext cx="85725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800"/>
              <a:buFont typeface="Calibri"/>
              <a:buNone/>
            </a:pPr>
            <a:r>
              <a:rPr b="1" i="0" lang="en" sz="2200" u="none" cap="none" strike="noStrike">
                <a:solidFill>
                  <a:srgbClr val="FFFFFF"/>
                </a:solidFill>
                <a:latin typeface="Calibri"/>
                <a:ea typeface="Calibri"/>
                <a:cs typeface="Calibri"/>
                <a:sym typeface="Calibri"/>
              </a:rPr>
              <a:t>Recommendations</a:t>
            </a:r>
            <a:endParaRPr b="0" i="0" sz="2200" u="none" cap="none" strike="noStrike">
              <a:solidFill>
                <a:schemeClr val="dk1"/>
              </a:solidFill>
              <a:latin typeface="Calibri"/>
              <a:ea typeface="Calibri"/>
              <a:cs typeface="Calibri"/>
              <a:sym typeface="Calibri"/>
            </a:endParaRPr>
          </a:p>
        </p:txBody>
      </p:sp>
      <p:sp>
        <p:nvSpPr>
          <p:cNvPr id="193" name="Google Shape;193;p28"/>
          <p:cNvSpPr txBox="1"/>
          <p:nvPr/>
        </p:nvSpPr>
        <p:spPr>
          <a:xfrm>
            <a:off x="330100" y="1146516"/>
            <a:ext cx="8229600" cy="1625700"/>
          </a:xfrm>
          <a:prstGeom prst="rect">
            <a:avLst/>
          </a:prstGeom>
          <a:noFill/>
          <a:ln>
            <a:noFill/>
          </a:ln>
        </p:spPr>
        <p:txBody>
          <a:bodyPr anchorCtr="0" anchor="t" bIns="34275" lIns="68575" spcFirstLastPara="1" rIns="68575" wrap="square" tIns="34275">
            <a:noAutofit/>
          </a:bodyPr>
          <a:lstStyle/>
          <a:p>
            <a:pPr indent="-304800" lvl="0" marL="457200" marR="0" rtl="0" algn="l">
              <a:lnSpc>
                <a:spcPct val="115000"/>
              </a:lnSpc>
              <a:spcBef>
                <a:spcPts val="80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The logistics and carrier network has the most improvement scope since the delivery delay has been the strongest factor in impacting the customer reviews. The deliveries which are being late within the same state can be improved first and then some of the routes or cross states deliveries with a large delays can be fixed with better delivery partners as well.</a:t>
            </a:r>
            <a:endParaRPr sz="1200">
              <a:solidFill>
                <a:srgbClr val="222222"/>
              </a:solidFill>
              <a:latin typeface="Calibri"/>
              <a:ea typeface="Calibri"/>
              <a:cs typeface="Calibri"/>
              <a:sym typeface="Calibri"/>
            </a:endParaRPr>
          </a:p>
          <a:p>
            <a:pPr indent="-304800" lvl="0" marL="457200" marR="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Since the top 10% of sellers seems to be driving almost 70% of orders, there can be a priority support and better tools or infrastructure for these sellers so they can minimize the late rate and receive more positive reviews.</a:t>
            </a:r>
            <a:endParaRPr sz="1200">
              <a:solidFill>
                <a:srgbClr val="222222"/>
              </a:solidFill>
              <a:latin typeface="Calibri"/>
              <a:ea typeface="Calibri"/>
              <a:cs typeface="Calibri"/>
              <a:sym typeface="Calibri"/>
            </a:endParaRPr>
          </a:p>
        </p:txBody>
      </p:sp>
      <p:sp>
        <p:nvSpPr>
          <p:cNvPr id="194" name="Google Shape;194;p28"/>
          <p:cNvSpPr txBox="1"/>
          <p:nvPr/>
        </p:nvSpPr>
        <p:spPr>
          <a:xfrm>
            <a:off x="330100" y="797614"/>
            <a:ext cx="2430000" cy="348900"/>
          </a:xfrm>
          <a:prstGeom prst="rect">
            <a:avLst/>
          </a:prstGeom>
          <a:noFill/>
          <a:ln>
            <a:noFill/>
          </a:ln>
        </p:spPr>
        <p:txBody>
          <a:bodyPr anchorCtr="0" anchor="t" bIns="34275" lIns="68575" spcFirstLastPara="1" rIns="68575" wrap="square" tIns="34275">
            <a:noAutofit/>
          </a:bodyPr>
          <a:lstStyle/>
          <a:p>
            <a:pPr indent="0" lvl="0" marL="0" marR="0" rtl="0" algn="l">
              <a:spcBef>
                <a:spcPts val="800"/>
              </a:spcBef>
              <a:spcAft>
                <a:spcPts val="0"/>
              </a:spcAft>
              <a:buNone/>
            </a:pPr>
            <a:r>
              <a:rPr b="1" lang="en">
                <a:solidFill>
                  <a:schemeClr val="dk1"/>
                </a:solidFill>
                <a:latin typeface="Calibri"/>
                <a:ea typeface="Calibri"/>
                <a:cs typeface="Calibri"/>
                <a:sym typeface="Calibri"/>
              </a:rPr>
              <a:t>Where to Invest</a:t>
            </a:r>
            <a:r>
              <a:rPr b="1" lang="en">
                <a:solidFill>
                  <a:schemeClr val="dk1"/>
                </a:solidFill>
                <a:latin typeface="Calibri"/>
                <a:ea typeface="Calibri"/>
                <a:cs typeface="Calibri"/>
                <a:sym typeface="Calibri"/>
              </a:rPr>
              <a:t>:</a:t>
            </a:r>
            <a:endParaRPr b="1" i="0" u="none" cap="none" strike="noStrike">
              <a:solidFill>
                <a:schemeClr val="dk1"/>
              </a:solidFill>
              <a:latin typeface="Calibri"/>
              <a:ea typeface="Calibri"/>
              <a:cs typeface="Calibri"/>
              <a:sym typeface="Calibri"/>
            </a:endParaRPr>
          </a:p>
        </p:txBody>
      </p:sp>
      <p:sp>
        <p:nvSpPr>
          <p:cNvPr id="195" name="Google Shape;195;p28"/>
          <p:cNvSpPr txBox="1"/>
          <p:nvPr/>
        </p:nvSpPr>
        <p:spPr>
          <a:xfrm>
            <a:off x="330100" y="2669305"/>
            <a:ext cx="8229600" cy="930300"/>
          </a:xfrm>
          <a:prstGeom prst="rect">
            <a:avLst/>
          </a:prstGeom>
          <a:noFill/>
          <a:ln>
            <a:noFill/>
          </a:ln>
        </p:spPr>
        <p:txBody>
          <a:bodyPr anchorCtr="0" anchor="t" bIns="34275" lIns="68575" spcFirstLastPara="1" rIns="68575" wrap="square" tIns="34275">
            <a:noAutofit/>
          </a:bodyPr>
          <a:lstStyle/>
          <a:p>
            <a:pPr indent="-304800" lvl="0" marL="457200" marR="0" rtl="0" algn="l">
              <a:lnSpc>
                <a:spcPct val="115000"/>
              </a:lnSpc>
              <a:spcBef>
                <a:spcPts val="80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To check the reliability of sellers, use processing time instead of overall late rate of the seller since how much time the seller takes to process an order before handing it off to carriers, matters more and it reveals how fast does a seller work.</a:t>
            </a:r>
            <a:endParaRPr sz="1200">
              <a:solidFill>
                <a:srgbClr val="222222"/>
              </a:solidFill>
              <a:latin typeface="Calibri"/>
              <a:ea typeface="Calibri"/>
              <a:cs typeface="Calibri"/>
              <a:sym typeface="Calibri"/>
            </a:endParaRPr>
          </a:p>
          <a:p>
            <a:pPr indent="-304800" lvl="0" marL="457200" marR="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Prioritize delivery for the categories that are punishing the delay more, since the timely delivery for the urgently required products matters the most than heavier purchase like furnitures or home decor.</a:t>
            </a:r>
            <a:endParaRPr sz="1200">
              <a:solidFill>
                <a:srgbClr val="222222"/>
              </a:solidFill>
              <a:latin typeface="Calibri"/>
              <a:ea typeface="Calibri"/>
              <a:cs typeface="Calibri"/>
              <a:sym typeface="Calibri"/>
            </a:endParaRPr>
          </a:p>
        </p:txBody>
      </p:sp>
      <p:sp>
        <p:nvSpPr>
          <p:cNvPr id="196" name="Google Shape;196;p28"/>
          <p:cNvSpPr txBox="1"/>
          <p:nvPr/>
        </p:nvSpPr>
        <p:spPr>
          <a:xfrm>
            <a:off x="330100" y="2320408"/>
            <a:ext cx="2430000" cy="348900"/>
          </a:xfrm>
          <a:prstGeom prst="rect">
            <a:avLst/>
          </a:prstGeom>
          <a:noFill/>
          <a:ln>
            <a:noFill/>
          </a:ln>
        </p:spPr>
        <p:txBody>
          <a:bodyPr anchorCtr="0" anchor="t" bIns="34275" lIns="68575" spcFirstLastPara="1" rIns="68575" wrap="square" tIns="34275">
            <a:noAutofit/>
          </a:bodyPr>
          <a:lstStyle/>
          <a:p>
            <a:pPr indent="0" lvl="0" marL="0" marR="0" rtl="0" algn="l">
              <a:spcBef>
                <a:spcPts val="800"/>
              </a:spcBef>
              <a:spcAft>
                <a:spcPts val="0"/>
              </a:spcAft>
              <a:buNone/>
            </a:pPr>
            <a:r>
              <a:rPr b="1" lang="en">
                <a:solidFill>
                  <a:schemeClr val="dk1"/>
                </a:solidFill>
                <a:latin typeface="Calibri"/>
                <a:ea typeface="Calibri"/>
                <a:cs typeface="Calibri"/>
                <a:sym typeface="Calibri"/>
              </a:rPr>
              <a:t>Where to Intervene:</a:t>
            </a:r>
            <a:endParaRPr b="1" i="0" u="none" cap="none" strike="noStrike">
              <a:solidFill>
                <a:schemeClr val="dk1"/>
              </a:solidFill>
              <a:latin typeface="Calibri"/>
              <a:ea typeface="Calibri"/>
              <a:cs typeface="Calibri"/>
              <a:sym typeface="Calibri"/>
            </a:endParaRPr>
          </a:p>
        </p:txBody>
      </p:sp>
      <p:sp>
        <p:nvSpPr>
          <p:cNvPr id="197" name="Google Shape;197;p28"/>
          <p:cNvSpPr txBox="1"/>
          <p:nvPr/>
        </p:nvSpPr>
        <p:spPr>
          <a:xfrm>
            <a:off x="328828" y="3963432"/>
            <a:ext cx="8229600" cy="930300"/>
          </a:xfrm>
          <a:prstGeom prst="rect">
            <a:avLst/>
          </a:prstGeom>
          <a:noFill/>
          <a:ln>
            <a:noFill/>
          </a:ln>
        </p:spPr>
        <p:txBody>
          <a:bodyPr anchorCtr="0" anchor="t" bIns="34275" lIns="68575" spcFirstLastPara="1" rIns="68575" wrap="square" tIns="34275">
            <a:noAutofit/>
          </a:bodyPr>
          <a:lstStyle/>
          <a:p>
            <a:pPr indent="-304800" lvl="0" marL="457200" marR="0" rtl="0" algn="l">
              <a:lnSpc>
                <a:spcPct val="115000"/>
              </a:lnSpc>
              <a:spcBef>
                <a:spcPts val="80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Check the business type of a seller when they are signing up to get a rough idea of their projected performance based on the already available data of </a:t>
            </a:r>
            <a:r>
              <a:rPr lang="en" sz="1200">
                <a:solidFill>
                  <a:srgbClr val="222222"/>
                </a:solidFill>
                <a:latin typeface="Calibri"/>
                <a:ea typeface="Calibri"/>
                <a:cs typeface="Calibri"/>
                <a:sym typeface="Calibri"/>
              </a:rPr>
              <a:t>existing</a:t>
            </a:r>
            <a:r>
              <a:rPr lang="en" sz="1200">
                <a:solidFill>
                  <a:srgbClr val="222222"/>
                </a:solidFill>
                <a:latin typeface="Calibri"/>
                <a:ea typeface="Calibri"/>
                <a:cs typeface="Calibri"/>
                <a:sym typeface="Calibri"/>
              </a:rPr>
              <a:t> sellers and their business type.</a:t>
            </a:r>
            <a:endParaRPr sz="1200">
              <a:solidFill>
                <a:srgbClr val="222222"/>
              </a:solidFill>
              <a:latin typeface="Calibri"/>
              <a:ea typeface="Calibri"/>
              <a:cs typeface="Calibri"/>
              <a:sym typeface="Calibri"/>
            </a:endParaRPr>
          </a:p>
          <a:p>
            <a:pPr indent="-304800" lvl="0" marL="457200" marR="0" rtl="0" algn="l">
              <a:lnSpc>
                <a:spcPct val="115000"/>
              </a:lnSpc>
              <a:spcBef>
                <a:spcPts val="0"/>
              </a:spcBef>
              <a:spcAft>
                <a:spcPts val="0"/>
              </a:spcAft>
              <a:buClr>
                <a:srgbClr val="222222"/>
              </a:buClr>
              <a:buSzPts val="1200"/>
              <a:buFont typeface="Calibri"/>
              <a:buChar char="●"/>
            </a:pPr>
            <a:r>
              <a:rPr lang="en" sz="1200">
                <a:solidFill>
                  <a:srgbClr val="222222"/>
                </a:solidFill>
                <a:latin typeface="Calibri"/>
                <a:ea typeface="Calibri"/>
                <a:cs typeface="Calibri"/>
                <a:sym typeface="Calibri"/>
              </a:rPr>
              <a:t>Investigate the lowest performing month in all the datasets which is March 2018. Find out what went wrong, was there any seasonal factors that affected the month or a genuine operations problem with the company.</a:t>
            </a:r>
            <a:endParaRPr sz="1200">
              <a:solidFill>
                <a:srgbClr val="222222"/>
              </a:solidFill>
              <a:latin typeface="Calibri"/>
              <a:ea typeface="Calibri"/>
              <a:cs typeface="Calibri"/>
              <a:sym typeface="Calibri"/>
            </a:endParaRPr>
          </a:p>
        </p:txBody>
      </p:sp>
      <p:sp>
        <p:nvSpPr>
          <p:cNvPr id="198" name="Google Shape;198;p28"/>
          <p:cNvSpPr txBox="1"/>
          <p:nvPr/>
        </p:nvSpPr>
        <p:spPr>
          <a:xfrm>
            <a:off x="328828" y="3614536"/>
            <a:ext cx="2430000" cy="348900"/>
          </a:xfrm>
          <a:prstGeom prst="rect">
            <a:avLst/>
          </a:prstGeom>
          <a:noFill/>
          <a:ln>
            <a:noFill/>
          </a:ln>
        </p:spPr>
        <p:txBody>
          <a:bodyPr anchorCtr="0" anchor="t" bIns="34275" lIns="68575" spcFirstLastPara="1" rIns="68575" wrap="square" tIns="34275">
            <a:noAutofit/>
          </a:bodyPr>
          <a:lstStyle/>
          <a:p>
            <a:pPr indent="0" lvl="0" marL="0" marR="0" rtl="0" algn="l">
              <a:spcBef>
                <a:spcPts val="800"/>
              </a:spcBef>
              <a:spcAft>
                <a:spcPts val="0"/>
              </a:spcAft>
              <a:buNone/>
            </a:pPr>
            <a:r>
              <a:rPr b="1" lang="en">
                <a:solidFill>
                  <a:schemeClr val="dk1"/>
                </a:solidFill>
                <a:latin typeface="Calibri"/>
                <a:ea typeface="Calibri"/>
                <a:cs typeface="Calibri"/>
                <a:sym typeface="Calibri"/>
              </a:rPr>
              <a:t>What </a:t>
            </a:r>
            <a:r>
              <a:rPr b="1" lang="en">
                <a:solidFill>
                  <a:schemeClr val="dk1"/>
                </a:solidFill>
                <a:latin typeface="Calibri"/>
                <a:ea typeface="Calibri"/>
                <a:cs typeface="Calibri"/>
                <a:sym typeface="Calibri"/>
              </a:rPr>
              <a:t>to Monitor:</a:t>
            </a:r>
            <a:endParaRPr b="1" i="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p:nvPr/>
        </p:nvSpPr>
        <p:spPr>
          <a:xfrm>
            <a:off x="0" y="0"/>
            <a:ext cx="9141714" cy="720090"/>
          </a:xfrm>
          <a:prstGeom prst="rect">
            <a:avLst/>
          </a:prstGeom>
          <a:solidFill>
            <a:srgbClr val="1E2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9"/>
          <p:cNvSpPr txBox="1"/>
          <p:nvPr/>
        </p:nvSpPr>
        <p:spPr>
          <a:xfrm>
            <a:off x="240020" y="147451"/>
            <a:ext cx="85725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libri"/>
              <a:buNone/>
            </a:pPr>
            <a:r>
              <a:rPr b="1" i="0" lang="en" sz="2200" u="none" cap="none" strike="noStrike">
                <a:solidFill>
                  <a:srgbClr val="FFFFFF"/>
                </a:solidFill>
                <a:latin typeface="Calibri"/>
                <a:ea typeface="Calibri"/>
                <a:cs typeface="Calibri"/>
                <a:sym typeface="Calibri"/>
              </a:rPr>
              <a:t>Limitations &amp; Open Questions</a:t>
            </a:r>
            <a:endParaRPr b="0" i="0" sz="2200" u="none" cap="none" strike="noStrike">
              <a:solidFill>
                <a:schemeClr val="dk1"/>
              </a:solidFill>
              <a:latin typeface="Calibri"/>
              <a:ea typeface="Calibri"/>
              <a:cs typeface="Calibri"/>
              <a:sym typeface="Calibri"/>
            </a:endParaRPr>
          </a:p>
        </p:txBody>
      </p:sp>
      <p:sp>
        <p:nvSpPr>
          <p:cNvPr id="206" name="Google Shape;206;p29"/>
          <p:cNvSpPr txBox="1"/>
          <p:nvPr/>
        </p:nvSpPr>
        <p:spPr>
          <a:xfrm>
            <a:off x="411475" y="925825"/>
            <a:ext cx="8229600" cy="2634600"/>
          </a:xfrm>
          <a:prstGeom prst="rect">
            <a:avLst/>
          </a:prstGeom>
          <a:noFill/>
          <a:ln>
            <a:noFill/>
          </a:ln>
        </p:spPr>
        <p:txBody>
          <a:bodyPr anchorCtr="0" anchor="t" bIns="34275" lIns="68575" spcFirstLastPara="1" rIns="68575" wrap="square" tIns="34275">
            <a:noAutofit/>
          </a:bodyPr>
          <a:lstStyle/>
          <a:p>
            <a:pPr indent="-317500" lvl="0" marL="457200" marR="0" rtl="0" algn="l">
              <a:lnSpc>
                <a:spcPct val="115000"/>
              </a:lnSpc>
              <a:spcBef>
                <a:spcPts val="0"/>
              </a:spcBef>
              <a:spcAft>
                <a:spcPts val="0"/>
              </a:spcAft>
              <a:buClr>
                <a:srgbClr val="222222"/>
              </a:buClr>
              <a:buSzPts val="1400"/>
              <a:buFont typeface="Calibri"/>
              <a:buChar char="●"/>
            </a:pPr>
            <a:r>
              <a:rPr b="0" i="0" lang="en" u="none" cap="none" strike="noStrike">
                <a:solidFill>
                  <a:srgbClr val="222222"/>
                </a:solidFill>
                <a:latin typeface="Calibri"/>
                <a:ea typeface="Calibri"/>
                <a:cs typeface="Calibri"/>
                <a:sym typeface="Calibri"/>
              </a:rPr>
              <a:t>March 2018's late</a:t>
            </a:r>
            <a:r>
              <a:rPr lang="en">
                <a:solidFill>
                  <a:srgbClr val="222222"/>
                </a:solidFill>
                <a:latin typeface="Calibri"/>
                <a:ea typeface="Calibri"/>
                <a:cs typeface="Calibri"/>
                <a:sym typeface="Calibri"/>
              </a:rPr>
              <a:t> </a:t>
            </a:r>
            <a:r>
              <a:rPr b="0" i="0" lang="en" u="none" cap="none" strike="noStrike">
                <a:solidFill>
                  <a:srgbClr val="222222"/>
                </a:solidFill>
                <a:latin typeface="Calibri"/>
                <a:ea typeface="Calibri"/>
                <a:cs typeface="Calibri"/>
                <a:sym typeface="Calibri"/>
              </a:rPr>
              <a:t>delivery spike is real and cross</a:t>
            </a:r>
            <a:r>
              <a:rPr lang="en">
                <a:solidFill>
                  <a:srgbClr val="222222"/>
                </a:solidFill>
                <a:latin typeface="Calibri"/>
                <a:ea typeface="Calibri"/>
                <a:cs typeface="Calibri"/>
                <a:sym typeface="Calibri"/>
              </a:rPr>
              <a:t> </a:t>
            </a:r>
            <a:r>
              <a:rPr b="0" i="0" lang="en" u="none" cap="none" strike="noStrike">
                <a:solidFill>
                  <a:srgbClr val="222222"/>
                </a:solidFill>
                <a:latin typeface="Calibri"/>
                <a:ea typeface="Calibri"/>
                <a:cs typeface="Calibri"/>
                <a:sym typeface="Calibri"/>
              </a:rPr>
              <a:t>validated but its cause is unknown from this data alone, need </a:t>
            </a:r>
            <a:r>
              <a:rPr lang="en">
                <a:solidFill>
                  <a:srgbClr val="222222"/>
                </a:solidFill>
                <a:latin typeface="Calibri"/>
                <a:ea typeface="Calibri"/>
                <a:cs typeface="Calibri"/>
                <a:sym typeface="Calibri"/>
              </a:rPr>
              <a:t>some more insights into what happened to derive any meaningful conclusions or an action plan to work on the fixes.</a:t>
            </a:r>
            <a:endParaRPr b="0"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rgbClr val="222222"/>
              </a:buClr>
              <a:buSzPts val="1400"/>
              <a:buFont typeface="Calibri"/>
              <a:buChar char="●"/>
            </a:pPr>
            <a:r>
              <a:rPr lang="en">
                <a:solidFill>
                  <a:srgbClr val="222222"/>
                </a:solidFill>
                <a:latin typeface="Calibri"/>
                <a:ea typeface="Calibri"/>
                <a:cs typeface="Calibri"/>
                <a:sym typeface="Calibri"/>
              </a:rPr>
              <a:t>The f</a:t>
            </a:r>
            <a:r>
              <a:rPr b="0" i="0" lang="en" u="none" cap="none" strike="noStrike">
                <a:solidFill>
                  <a:srgbClr val="222222"/>
                </a:solidFill>
                <a:latin typeface="Calibri"/>
                <a:ea typeface="Calibri"/>
                <a:cs typeface="Calibri"/>
                <a:sym typeface="Calibri"/>
              </a:rPr>
              <a:t>unnel data covers only 12% of active sellers </a:t>
            </a:r>
            <a:r>
              <a:rPr lang="en">
                <a:solidFill>
                  <a:srgbClr val="222222"/>
                </a:solidFill>
                <a:latin typeface="Calibri"/>
                <a:ea typeface="Calibri"/>
                <a:cs typeface="Calibri"/>
                <a:sym typeface="Calibri"/>
              </a:rPr>
              <a:t>so</a:t>
            </a:r>
            <a:r>
              <a:rPr b="0" i="0" lang="en" u="none" cap="none" strike="noStrike">
                <a:solidFill>
                  <a:srgbClr val="222222"/>
                </a:solidFill>
                <a:latin typeface="Calibri"/>
                <a:ea typeface="Calibri"/>
                <a:cs typeface="Calibri"/>
                <a:sym typeface="Calibri"/>
              </a:rPr>
              <a:t> th</a:t>
            </a:r>
            <a:r>
              <a:rPr lang="en">
                <a:solidFill>
                  <a:srgbClr val="222222"/>
                </a:solidFill>
                <a:latin typeface="Calibri"/>
                <a:ea typeface="Calibri"/>
                <a:cs typeface="Calibri"/>
                <a:sym typeface="Calibri"/>
              </a:rPr>
              <a:t>e</a:t>
            </a:r>
            <a:r>
              <a:rPr b="0" i="0" lang="en" u="none" cap="none" strike="noStrike">
                <a:solidFill>
                  <a:srgbClr val="222222"/>
                </a:solidFill>
                <a:latin typeface="Calibri"/>
                <a:ea typeface="Calibri"/>
                <a:cs typeface="Calibri"/>
                <a:sym typeface="Calibri"/>
              </a:rPr>
              <a:t> findings related to this section and data only apply to that overlap, and not </a:t>
            </a:r>
            <a:r>
              <a:rPr lang="en">
                <a:solidFill>
                  <a:srgbClr val="222222"/>
                </a:solidFill>
                <a:latin typeface="Calibri"/>
                <a:ea typeface="Calibri"/>
                <a:cs typeface="Calibri"/>
                <a:sym typeface="Calibri"/>
              </a:rPr>
              <a:t>all the sellers. More data needs to be collected to identify more concrete patterns for the sellers behaviour and performance.</a:t>
            </a:r>
            <a:endParaRPr b="0"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rgbClr val="222222"/>
              </a:buClr>
              <a:buSzPts val="1400"/>
              <a:buFont typeface="Calibri"/>
              <a:buChar char="●"/>
            </a:pPr>
            <a:r>
              <a:rPr lang="en">
                <a:solidFill>
                  <a:srgbClr val="222222"/>
                </a:solidFill>
                <a:latin typeface="Calibri"/>
                <a:ea typeface="Calibri"/>
                <a:cs typeface="Calibri"/>
                <a:sym typeface="Calibri"/>
              </a:rPr>
              <a:t>Some of the interesting</a:t>
            </a:r>
            <a:r>
              <a:rPr b="0" i="0" lang="en" u="none" cap="none" strike="noStrike">
                <a:solidFill>
                  <a:srgbClr val="222222"/>
                </a:solidFill>
                <a:latin typeface="Calibri"/>
                <a:ea typeface="Calibri"/>
                <a:cs typeface="Calibri"/>
                <a:sym typeface="Calibri"/>
              </a:rPr>
              <a:t> findings are directional, not definitive </a:t>
            </a:r>
            <a:r>
              <a:rPr lang="en">
                <a:solidFill>
                  <a:srgbClr val="222222"/>
                </a:solidFill>
                <a:latin typeface="Calibri"/>
                <a:ea typeface="Calibri"/>
                <a:cs typeface="Calibri"/>
                <a:sym typeface="Calibri"/>
              </a:rPr>
              <a:t>since the samples are smaller and its based on the speculation of what could have been the case, so again need more data to prove them further.</a:t>
            </a:r>
            <a:endParaRPr b="0"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rgbClr val="222222"/>
              </a:buClr>
              <a:buSzPts val="1400"/>
              <a:buFont typeface="Calibri"/>
              <a:buChar char="●"/>
            </a:pPr>
            <a:r>
              <a:rPr b="0" i="0" lang="en" u="none" cap="none" strike="noStrike">
                <a:solidFill>
                  <a:srgbClr val="222222"/>
                </a:solidFill>
                <a:latin typeface="Calibri"/>
                <a:ea typeface="Calibri"/>
                <a:cs typeface="Calibri"/>
                <a:sym typeface="Calibri"/>
              </a:rPr>
              <a:t>Review comment text has a </a:t>
            </a:r>
            <a:r>
              <a:rPr lang="en">
                <a:solidFill>
                  <a:srgbClr val="222222"/>
                </a:solidFill>
                <a:latin typeface="Calibri"/>
                <a:ea typeface="Calibri"/>
                <a:cs typeface="Calibri"/>
                <a:sym typeface="Calibri"/>
              </a:rPr>
              <a:t>lot of null values and the ones having a review have not been translated or looked into each of them individually.</a:t>
            </a:r>
            <a:endParaRPr b="0" i="0" u="none" cap="none" strike="noStrike">
              <a:solidFill>
                <a:schemeClr val="dk1"/>
              </a:solidFill>
              <a:latin typeface="Calibri"/>
              <a:ea typeface="Calibri"/>
              <a:cs typeface="Calibri"/>
              <a:sym typeface="Calibri"/>
            </a:endParaRPr>
          </a:p>
        </p:txBody>
      </p:sp>
      <p:sp>
        <p:nvSpPr>
          <p:cNvPr id="207" name="Google Shape;207;p29"/>
          <p:cNvSpPr txBox="1"/>
          <p:nvPr/>
        </p:nvSpPr>
        <p:spPr>
          <a:xfrm>
            <a:off x="482500" y="4008630"/>
            <a:ext cx="8229600" cy="930300"/>
          </a:xfrm>
          <a:prstGeom prst="rect">
            <a:avLst/>
          </a:prstGeom>
          <a:noFill/>
          <a:ln>
            <a:noFill/>
          </a:ln>
        </p:spPr>
        <p:txBody>
          <a:bodyPr anchorCtr="0" anchor="t" bIns="34275" lIns="68575" spcFirstLastPara="1" rIns="68575" wrap="square" tIns="34275">
            <a:noAutofit/>
          </a:bodyPr>
          <a:lstStyle/>
          <a:p>
            <a:pPr indent="-304800" lvl="0" marL="457200" rtl="0" algn="l">
              <a:lnSpc>
                <a:spcPct val="115000"/>
              </a:lnSpc>
              <a:spcBef>
                <a:spcPts val="800"/>
              </a:spcBef>
              <a:spcAft>
                <a:spcPts val="0"/>
              </a:spcAft>
              <a:buClr>
                <a:srgbClr val="222222"/>
              </a:buClr>
              <a:buSzPts val="1200"/>
              <a:buFont typeface="Calibri"/>
              <a:buChar char="●"/>
            </a:pPr>
            <a:r>
              <a:rPr lang="en">
                <a:solidFill>
                  <a:srgbClr val="222222"/>
                </a:solidFill>
                <a:latin typeface="Calibri"/>
                <a:ea typeface="Calibri"/>
                <a:cs typeface="Calibri"/>
                <a:sym typeface="Calibri"/>
              </a:rPr>
              <a:t>E</a:t>
            </a:r>
            <a:r>
              <a:rPr lang="en">
                <a:solidFill>
                  <a:srgbClr val="222222"/>
                </a:solidFill>
                <a:latin typeface="Calibri"/>
                <a:ea typeface="Calibri"/>
                <a:cs typeface="Calibri"/>
                <a:sym typeface="Calibri"/>
              </a:rPr>
              <a:t>xternal event data for March 2018</a:t>
            </a:r>
            <a:endParaRPr>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a:solidFill>
                  <a:srgbClr val="222222"/>
                </a:solidFill>
                <a:latin typeface="Calibri"/>
                <a:ea typeface="Calibri"/>
                <a:cs typeface="Calibri"/>
                <a:sym typeface="Calibri"/>
              </a:rPr>
              <a:t>Detailed funnel data, starting from the landing page itself</a:t>
            </a:r>
            <a:endParaRPr>
              <a:solidFill>
                <a:srgbClr val="222222"/>
              </a:solidFill>
              <a:latin typeface="Calibri"/>
              <a:ea typeface="Calibri"/>
              <a:cs typeface="Calibri"/>
              <a:sym typeface="Calibri"/>
            </a:endParaRPr>
          </a:p>
          <a:p>
            <a:pPr indent="-304800" lvl="0" marL="457200" rtl="0" algn="l">
              <a:lnSpc>
                <a:spcPct val="115000"/>
              </a:lnSpc>
              <a:spcBef>
                <a:spcPts val="0"/>
              </a:spcBef>
              <a:spcAft>
                <a:spcPts val="0"/>
              </a:spcAft>
              <a:buClr>
                <a:srgbClr val="222222"/>
              </a:buClr>
              <a:buSzPts val="1200"/>
              <a:buFont typeface="Calibri"/>
              <a:buChar char="●"/>
            </a:pPr>
            <a:r>
              <a:rPr lang="en">
                <a:solidFill>
                  <a:srgbClr val="222222"/>
                </a:solidFill>
                <a:latin typeface="Calibri"/>
                <a:ea typeface="Calibri"/>
                <a:cs typeface="Calibri"/>
                <a:sym typeface="Calibri"/>
              </a:rPr>
              <a:t>Richer product description analysis and a product level exploration with more data</a:t>
            </a:r>
            <a:endParaRPr sz="1200">
              <a:solidFill>
                <a:srgbClr val="222222"/>
              </a:solidFill>
              <a:latin typeface="Calibri"/>
              <a:ea typeface="Calibri"/>
              <a:cs typeface="Calibri"/>
              <a:sym typeface="Calibri"/>
            </a:endParaRPr>
          </a:p>
        </p:txBody>
      </p:sp>
      <p:sp>
        <p:nvSpPr>
          <p:cNvPr id="208" name="Google Shape;208;p29"/>
          <p:cNvSpPr txBox="1"/>
          <p:nvPr/>
        </p:nvSpPr>
        <p:spPr>
          <a:xfrm>
            <a:off x="482500" y="3659734"/>
            <a:ext cx="2430000" cy="348900"/>
          </a:xfrm>
          <a:prstGeom prst="rect">
            <a:avLst/>
          </a:prstGeom>
          <a:noFill/>
          <a:ln>
            <a:noFill/>
          </a:ln>
        </p:spPr>
        <p:txBody>
          <a:bodyPr anchorCtr="0" anchor="t" bIns="34275" lIns="68575" spcFirstLastPara="1" rIns="68575" wrap="square" tIns="34275">
            <a:noAutofit/>
          </a:bodyPr>
          <a:lstStyle/>
          <a:p>
            <a:pPr indent="0" lvl="0" marL="0" marR="0" rtl="0" algn="l">
              <a:spcBef>
                <a:spcPts val="800"/>
              </a:spcBef>
              <a:spcAft>
                <a:spcPts val="0"/>
              </a:spcAft>
              <a:buNone/>
            </a:pPr>
            <a:r>
              <a:rPr b="1" lang="en" sz="1600">
                <a:solidFill>
                  <a:schemeClr val="dk1"/>
                </a:solidFill>
                <a:latin typeface="Calibri"/>
                <a:ea typeface="Calibri"/>
                <a:cs typeface="Calibri"/>
                <a:sym typeface="Calibri"/>
              </a:rPr>
              <a:t>Future scope:</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4A"/>
        </a:solidFill>
      </p:bgPr>
    </p:bg>
    <p:spTree>
      <p:nvGrpSpPr>
        <p:cNvPr id="213" name="Shape 213"/>
        <p:cNvGrpSpPr/>
        <p:nvPr/>
      </p:nvGrpSpPr>
      <p:grpSpPr>
        <a:xfrm>
          <a:off x="0" y="0"/>
          <a:ext cx="0" cy="0"/>
          <a:chOff x="0" y="0"/>
          <a:chExt cx="0" cy="0"/>
        </a:xfrm>
      </p:grpSpPr>
      <p:sp>
        <p:nvSpPr>
          <p:cNvPr id="214" name="Google Shape;214;p30"/>
          <p:cNvSpPr txBox="1"/>
          <p:nvPr/>
        </p:nvSpPr>
        <p:spPr>
          <a:xfrm>
            <a:off x="548640" y="1920240"/>
            <a:ext cx="802386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700"/>
              <a:buFont typeface="Calibri"/>
              <a:buNone/>
            </a:pPr>
            <a:r>
              <a:rPr b="1" i="0" lang="en" sz="2700" u="none" cap="none" strike="noStrike">
                <a:solidFill>
                  <a:srgbClr val="FFFFFF"/>
                </a:solidFill>
                <a:latin typeface="Calibri"/>
                <a:ea typeface="Calibri"/>
                <a:cs typeface="Calibri"/>
                <a:sym typeface="Calibri"/>
              </a:rPr>
              <a:t>Thank You</a:t>
            </a:r>
            <a:endParaRPr b="0" i="0" sz="2700" u="none" cap="none" strike="noStrike">
              <a:solidFill>
                <a:schemeClr val="dk1"/>
              </a:solidFill>
              <a:latin typeface="Calibri"/>
              <a:ea typeface="Calibri"/>
              <a:cs typeface="Calibri"/>
              <a:sym typeface="Calibri"/>
            </a:endParaRPr>
          </a:p>
        </p:txBody>
      </p:sp>
      <p:sp>
        <p:nvSpPr>
          <p:cNvPr id="215" name="Google Shape;215;p30"/>
          <p:cNvSpPr txBox="1"/>
          <p:nvPr/>
        </p:nvSpPr>
        <p:spPr>
          <a:xfrm>
            <a:off x="548640" y="2606040"/>
            <a:ext cx="802386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400"/>
              <a:buFont typeface="Calibri"/>
              <a:buNone/>
            </a:pPr>
            <a:r>
              <a:rPr b="0" i="0" lang="en" sz="1400" u="none" cap="none" strike="noStrike">
                <a:solidFill>
                  <a:srgbClr val="CADCFC"/>
                </a:solidFill>
                <a:latin typeface="Calibri"/>
                <a:ea typeface="Calibri"/>
                <a:cs typeface="Calibri"/>
                <a:sym typeface="Calibri"/>
              </a:rPr>
              <a:t>Questions?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